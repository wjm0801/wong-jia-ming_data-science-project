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22.xml"/>
  <Override ContentType="application/vnd.openxmlformats-officedocument.presentationml.slide+xml" PartName="/ppt/slides/slide23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</p:sldIdLst>
  <p:sldSz cx="18288000" cy="10287000"/>
  <p:notesSz cx="6858000" cy="9144000"/>
  <p:embeddedFontLst>
    <p:embeddedFont>
      <p:font typeface="Cheddar" charset="1" panose="00000000000000000000"/>
      <p:regular r:id="rId29"/>
    </p:embeddedFont>
    <p:embeddedFont>
      <p:font typeface="Telegraf Bold" charset="1" panose="00000800000000000000"/>
      <p:regular r:id="rId30"/>
    </p:embeddedFont>
    <p:embeddedFont>
      <p:font typeface="Telegraf Medium" charset="1" panose="00000600000000000000"/>
      <p:regular r:id="rId31"/>
    </p:embeddedFont>
    <p:embeddedFont>
      <p:font typeface="DM Sans" charset="1" panose="00000000000000000000"/>
      <p:regular r:id="rId32"/>
    </p:embeddedFont>
    <p:embeddedFont>
      <p:font typeface="Bebas Neue" charset="1" panose="00000500000000000000"/>
      <p:regular r:id="rId33"/>
    </p:embeddedFont>
    <p:embeddedFont>
      <p:font typeface="Telegraf" charset="1" panose="00000500000000000000"/>
      <p:regular r:id="rId3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slides/slide20.xml" Type="http://schemas.openxmlformats.org/officeDocument/2006/relationships/slide"/><Relationship Id="rId26" Target="slides/slide21.xml" Type="http://schemas.openxmlformats.org/officeDocument/2006/relationships/slide"/><Relationship Id="rId27" Target="slides/slide22.xml" Type="http://schemas.openxmlformats.org/officeDocument/2006/relationships/slide"/><Relationship Id="rId28" Target="slides/slide23.xml" Type="http://schemas.openxmlformats.org/officeDocument/2006/relationships/slide"/><Relationship Id="rId29" Target="fonts/font29.fntdata" Type="http://schemas.openxmlformats.org/officeDocument/2006/relationships/font"/><Relationship Id="rId3" Target="viewProps.xml" Type="http://schemas.openxmlformats.org/officeDocument/2006/relationships/viewProps"/><Relationship Id="rId30" Target="fonts/font30.fntdata" Type="http://schemas.openxmlformats.org/officeDocument/2006/relationships/font"/><Relationship Id="rId31" Target="fonts/font31.fntdata" Type="http://schemas.openxmlformats.org/officeDocument/2006/relationships/font"/><Relationship Id="rId32" Target="fonts/font32.fntdata" Type="http://schemas.openxmlformats.org/officeDocument/2006/relationships/font"/><Relationship Id="rId33" Target="fonts/font33.fntdata" Type="http://schemas.openxmlformats.org/officeDocument/2006/relationships/font"/><Relationship Id="rId34" Target="fonts/font34.fntdata" Type="http://schemas.openxmlformats.org/officeDocument/2006/relationships/font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pn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.png" Type="http://schemas.openxmlformats.org/officeDocument/2006/relationships/image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3.png" Type="http://schemas.openxmlformats.org/officeDocument/2006/relationships/image"/></Relationships>
</file>

<file path=ppt/slides/_rels/slide2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4.png" Type="http://schemas.openxmlformats.org/officeDocument/2006/relationships/image"/></Relationships>
</file>

<file path=ppt/slides/_rels/slide2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5.png" Type="http://schemas.openxmlformats.org/officeDocument/2006/relationships/image"/></Relationships>
</file>

<file path=ppt/slides/_rels/slide2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EF4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5338725" y="2584299"/>
            <a:ext cx="1260008" cy="1653948"/>
          </a:xfrm>
          <a:custGeom>
            <a:avLst/>
            <a:gdLst/>
            <a:ahLst/>
            <a:cxnLst/>
            <a:rect r="r" b="b" t="t" l="l"/>
            <a:pathLst>
              <a:path h="1653948" w="1260008">
                <a:moveTo>
                  <a:pt x="0" y="0"/>
                </a:moveTo>
                <a:lnTo>
                  <a:pt x="1260008" y="0"/>
                </a:lnTo>
                <a:lnTo>
                  <a:pt x="1260008" y="1653948"/>
                </a:lnTo>
                <a:lnTo>
                  <a:pt x="0" y="165394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8283166" y="3338513"/>
            <a:ext cx="8694298" cy="36956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999"/>
              </a:lnSpc>
            </a:pPr>
            <a:r>
              <a:rPr lang="en-US" sz="9999">
                <a:solidFill>
                  <a:srgbClr val="290606"/>
                </a:solidFill>
                <a:latin typeface="Cheddar"/>
                <a:ea typeface="Cheddar"/>
                <a:cs typeface="Cheddar"/>
                <a:sym typeface="Cheddar"/>
              </a:rPr>
              <a:t>GOLD PRICE</a:t>
            </a:r>
          </a:p>
          <a:p>
            <a:pPr algn="ctr">
              <a:lnSpc>
                <a:spcPts val="8999"/>
              </a:lnSpc>
            </a:pPr>
            <a:r>
              <a:rPr lang="en-US" sz="9999">
                <a:solidFill>
                  <a:srgbClr val="290606"/>
                </a:solidFill>
                <a:latin typeface="Cheddar"/>
                <a:ea typeface="Cheddar"/>
                <a:cs typeface="Cheddar"/>
                <a:sym typeface="Cheddar"/>
              </a:rPr>
              <a:t>PREDICTION</a:t>
            </a:r>
          </a:p>
          <a:p>
            <a:pPr algn="ctr">
              <a:lnSpc>
                <a:spcPts val="8999"/>
              </a:lnSpc>
            </a:pPr>
          </a:p>
        </p:txBody>
      </p:sp>
      <p:sp>
        <p:nvSpPr>
          <p:cNvPr name="TextBox 4" id="4"/>
          <p:cNvSpPr txBox="true"/>
          <p:nvPr/>
        </p:nvSpPr>
        <p:spPr>
          <a:xfrm rot="0">
            <a:off x="8283166" y="5751886"/>
            <a:ext cx="8694298" cy="9658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00"/>
              </a:lnSpc>
            </a:pPr>
            <a:r>
              <a:rPr lang="en-US" b="true" sz="2400">
                <a:solidFill>
                  <a:srgbClr val="211C2D"/>
                </a:solidFill>
                <a:latin typeface="Telegraf Bold"/>
                <a:ea typeface="Telegraf Bold"/>
                <a:cs typeface="Telegraf Bold"/>
                <a:sym typeface="Telegraf Bold"/>
              </a:rPr>
              <a:t>SHORT-TERM FORECASTING OF XAU/USD DAILY PRICES USING AUTOREGRESSIVE AND DEEP LEARNING MODELS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bg>
      <p:bgPr>
        <a:solidFill>
          <a:srgbClr val="EEF4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311234" y="1951990"/>
            <a:ext cx="7948066" cy="39344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79"/>
              </a:lnSpc>
            </a:pPr>
            <a:r>
              <a:rPr lang="en-US" sz="2799" b="true">
                <a:solidFill>
                  <a:srgbClr val="290606"/>
                </a:solidFill>
                <a:latin typeface="Telegraf Medium"/>
                <a:ea typeface="Telegraf Medium"/>
                <a:cs typeface="Telegraf Medium"/>
                <a:sym typeface="Telegraf Medium"/>
              </a:rPr>
              <a:t>Key Features</a:t>
            </a:r>
          </a:p>
          <a:p>
            <a:pPr algn="l" marL="604519" indent="-302260" lvl="1">
              <a:lnSpc>
                <a:spcPts val="4479"/>
              </a:lnSpc>
              <a:buFont typeface="Arial"/>
              <a:buChar char="•"/>
            </a:pPr>
            <a:r>
              <a:rPr lang="en-US" b="true" sz="2799">
                <a:solidFill>
                  <a:srgbClr val="290606"/>
                </a:solidFill>
                <a:latin typeface="Telegraf Medium"/>
                <a:ea typeface="Telegraf Medium"/>
                <a:cs typeface="Telegraf Medium"/>
                <a:sym typeface="Telegraf Medium"/>
              </a:rPr>
              <a:t>Daily rolling prediction with auto-update</a:t>
            </a:r>
          </a:p>
          <a:p>
            <a:pPr algn="l" marL="604519" indent="-302260" lvl="1">
              <a:lnSpc>
                <a:spcPts val="4479"/>
              </a:lnSpc>
              <a:buFont typeface="Arial"/>
              <a:buChar char="•"/>
            </a:pPr>
            <a:r>
              <a:rPr lang="en-US" b="true" sz="2799">
                <a:solidFill>
                  <a:srgbClr val="290606"/>
                </a:solidFill>
                <a:latin typeface="Telegraf Medium"/>
                <a:ea typeface="Telegraf Medium"/>
                <a:cs typeface="Telegraf Medium"/>
                <a:sym typeface="Telegraf Medium"/>
              </a:rPr>
              <a:t>Lag-based autoregressive features (155 features)</a:t>
            </a:r>
          </a:p>
          <a:p>
            <a:pPr algn="l" marL="604519" indent="-302260" lvl="1">
              <a:lnSpc>
                <a:spcPts val="4479"/>
              </a:lnSpc>
              <a:buFont typeface="Arial"/>
              <a:buChar char="•"/>
            </a:pPr>
            <a:r>
              <a:rPr lang="en-US" b="true" sz="2799">
                <a:solidFill>
                  <a:srgbClr val="290606"/>
                </a:solidFill>
                <a:latin typeface="Telegraf Medium"/>
                <a:ea typeface="Telegraf Medium"/>
                <a:cs typeface="Telegraf Medium"/>
                <a:sym typeface="Telegraf Medium"/>
              </a:rPr>
              <a:t>Multiple model comparison</a:t>
            </a:r>
          </a:p>
          <a:p>
            <a:pPr algn="l" marL="604519" indent="-302260" lvl="1">
              <a:lnSpc>
                <a:spcPts val="4479"/>
              </a:lnSpc>
              <a:buFont typeface="Arial"/>
              <a:buChar char="•"/>
            </a:pPr>
            <a:r>
              <a:rPr lang="en-US" b="true" sz="2799">
                <a:solidFill>
                  <a:srgbClr val="290606"/>
                </a:solidFill>
                <a:latin typeface="Telegraf Medium"/>
                <a:ea typeface="Telegraf Medium"/>
                <a:cs typeface="Telegraf Medium"/>
                <a:sym typeface="Telegraf Medium"/>
              </a:rPr>
              <a:t>Trading signals generation</a:t>
            </a:r>
          </a:p>
          <a:p>
            <a:pPr algn="l" marL="604519" indent="-302260" lvl="1">
              <a:lnSpc>
                <a:spcPts val="4479"/>
              </a:lnSpc>
              <a:buFont typeface="Arial"/>
              <a:buChar char="•"/>
            </a:pPr>
            <a:r>
              <a:rPr lang="en-US" b="true" sz="2799">
                <a:solidFill>
                  <a:srgbClr val="290606"/>
                </a:solidFill>
                <a:latin typeface="Telegraf Medium"/>
                <a:ea typeface="Telegraf Medium"/>
                <a:cs typeface="Telegraf Medium"/>
                <a:sym typeface="Telegraf Medium"/>
              </a:rPr>
              <a:t>30-day future price forecast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8814054" y="633623"/>
            <a:ext cx="8304328" cy="1073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6999"/>
              </a:lnSpc>
            </a:pPr>
            <a:r>
              <a:rPr lang="en-US" sz="6999" spc="342">
                <a:solidFill>
                  <a:srgbClr val="290606"/>
                </a:solidFill>
                <a:latin typeface="Cheddar"/>
                <a:ea typeface="Cheddar"/>
                <a:cs typeface="Cheddar"/>
                <a:sym typeface="Cheddar"/>
              </a:rPr>
              <a:t>PROJECT OVERVIEW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9311234" y="6275018"/>
            <a:ext cx="7948066" cy="28105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79"/>
              </a:lnSpc>
            </a:pPr>
            <a:r>
              <a:rPr lang="en-US" sz="2799" b="true">
                <a:solidFill>
                  <a:srgbClr val="290606"/>
                </a:solidFill>
                <a:latin typeface="Telegraf Medium"/>
                <a:ea typeface="Telegraf Medium"/>
                <a:cs typeface="Telegraf Medium"/>
                <a:sym typeface="Telegraf Medium"/>
              </a:rPr>
              <a:t>Tech Stack</a:t>
            </a:r>
          </a:p>
          <a:p>
            <a:pPr algn="l" marL="604519" indent="-302260" lvl="1">
              <a:lnSpc>
                <a:spcPts val="4479"/>
              </a:lnSpc>
              <a:buFont typeface="Arial"/>
              <a:buChar char="•"/>
            </a:pPr>
            <a:r>
              <a:rPr lang="en-US" b="true" sz="2799">
                <a:solidFill>
                  <a:srgbClr val="290606"/>
                </a:solidFill>
                <a:latin typeface="Telegraf Medium"/>
                <a:ea typeface="Telegraf Medium"/>
                <a:cs typeface="Telegraf Medium"/>
                <a:sym typeface="Telegraf Medium"/>
              </a:rPr>
              <a:t>P</a:t>
            </a:r>
            <a:r>
              <a:rPr lang="en-US" b="true" sz="2799">
                <a:solidFill>
                  <a:srgbClr val="290606"/>
                </a:solidFill>
                <a:latin typeface="Telegraf Medium"/>
                <a:ea typeface="Telegraf Medium"/>
                <a:cs typeface="Telegraf Medium"/>
                <a:sym typeface="Telegraf Medium"/>
              </a:rPr>
              <a:t>ython · yfinance · Pandas · NumPy</a:t>
            </a:r>
          </a:p>
          <a:p>
            <a:pPr algn="l" marL="604519" indent="-302260" lvl="1">
              <a:lnSpc>
                <a:spcPts val="4479"/>
              </a:lnSpc>
              <a:buFont typeface="Arial"/>
              <a:buChar char="•"/>
            </a:pPr>
            <a:r>
              <a:rPr lang="en-US" b="true" sz="2799">
                <a:solidFill>
                  <a:srgbClr val="290606"/>
                </a:solidFill>
                <a:latin typeface="Telegraf Medium"/>
                <a:ea typeface="Telegraf Medium"/>
                <a:cs typeface="Telegraf Medium"/>
                <a:sym typeface="Telegraf Medium"/>
              </a:rPr>
              <a:t>skforecast · scikit-learn</a:t>
            </a:r>
          </a:p>
          <a:p>
            <a:pPr algn="l" marL="604519" indent="-302260" lvl="1">
              <a:lnSpc>
                <a:spcPts val="4479"/>
              </a:lnSpc>
              <a:buFont typeface="Arial"/>
              <a:buChar char="•"/>
            </a:pPr>
            <a:r>
              <a:rPr lang="en-US" b="true" sz="2799">
                <a:solidFill>
                  <a:srgbClr val="290606"/>
                </a:solidFill>
                <a:latin typeface="Telegraf Medium"/>
                <a:ea typeface="Telegraf Medium"/>
                <a:cs typeface="Telegraf Medium"/>
                <a:sym typeface="Telegraf Medium"/>
              </a:rPr>
              <a:t>TensorFlow / Keras</a:t>
            </a:r>
          </a:p>
          <a:p>
            <a:pPr algn="l" marL="604519" indent="-302260" lvl="1">
              <a:lnSpc>
                <a:spcPts val="4479"/>
              </a:lnSpc>
              <a:buFont typeface="Arial"/>
              <a:buChar char="•"/>
            </a:pPr>
            <a:r>
              <a:rPr lang="en-US" b="true" sz="2799">
                <a:solidFill>
                  <a:srgbClr val="290606"/>
                </a:solidFill>
                <a:latin typeface="Telegraf Medium"/>
                <a:ea typeface="Telegraf Medium"/>
                <a:cs typeface="Telegraf Medium"/>
                <a:sym typeface="Telegraf Medium"/>
              </a:rPr>
              <a:t>Matplotlib · Jupyter Notebook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865988" y="4199890"/>
            <a:ext cx="7948066" cy="5058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79"/>
              </a:lnSpc>
            </a:pPr>
            <a:r>
              <a:rPr lang="en-US" sz="2799" b="true">
                <a:solidFill>
                  <a:srgbClr val="290606"/>
                </a:solidFill>
                <a:latin typeface="Telegraf Medium"/>
                <a:ea typeface="Telegraf Medium"/>
                <a:cs typeface="Telegraf Medium"/>
                <a:sym typeface="Telegraf Medium"/>
              </a:rPr>
              <a:t>Gold is one of the most important commodities in the global financial market, widely regarded as a </a:t>
            </a:r>
            <a:r>
              <a:rPr lang="en-US" sz="2799" b="true">
                <a:solidFill>
                  <a:srgbClr val="C68A06"/>
                </a:solidFill>
                <a:latin typeface="Telegraf Medium"/>
                <a:ea typeface="Telegraf Medium"/>
                <a:cs typeface="Telegraf Medium"/>
                <a:sym typeface="Telegraf Medium"/>
              </a:rPr>
              <a:t>safe-haven asset</a:t>
            </a:r>
            <a:r>
              <a:rPr lang="en-US" sz="2799" b="true">
                <a:solidFill>
                  <a:srgbClr val="FEC801"/>
                </a:solidFill>
                <a:latin typeface="Telegraf Medium"/>
                <a:ea typeface="Telegraf Medium"/>
                <a:cs typeface="Telegraf Medium"/>
                <a:sym typeface="Telegraf Medium"/>
              </a:rPr>
              <a:t> </a:t>
            </a:r>
            <a:r>
              <a:rPr lang="en-US" sz="2799" b="true">
                <a:solidFill>
                  <a:srgbClr val="290606"/>
                </a:solidFill>
                <a:latin typeface="Telegraf Medium"/>
                <a:ea typeface="Telegraf Medium"/>
                <a:cs typeface="Telegraf Medium"/>
                <a:sym typeface="Telegraf Medium"/>
              </a:rPr>
              <a:t>during economic uncertainty.</a:t>
            </a:r>
          </a:p>
          <a:p>
            <a:pPr algn="ctr">
              <a:lnSpc>
                <a:spcPts val="4479"/>
              </a:lnSpc>
            </a:pPr>
            <a:r>
              <a:rPr lang="en-US" sz="2799" b="true">
                <a:solidFill>
                  <a:srgbClr val="290606"/>
                </a:solidFill>
                <a:latin typeface="Telegraf Medium"/>
                <a:ea typeface="Telegraf Medium"/>
                <a:cs typeface="Telegraf Medium"/>
                <a:sym typeface="Telegraf Medium"/>
              </a:rPr>
              <a:t>This project develops a machine learning-based system for </a:t>
            </a:r>
            <a:r>
              <a:rPr lang="en-US" sz="2799" b="true">
                <a:solidFill>
                  <a:srgbClr val="C68A06"/>
                </a:solidFill>
                <a:latin typeface="Telegraf Medium"/>
                <a:ea typeface="Telegraf Medium"/>
                <a:cs typeface="Telegraf Medium"/>
                <a:sym typeface="Telegraf Medium"/>
              </a:rPr>
              <a:t>next-day gold price </a:t>
            </a:r>
            <a:r>
              <a:rPr lang="en-US" sz="2799" b="true">
                <a:solidFill>
                  <a:srgbClr val="290606"/>
                </a:solidFill>
                <a:latin typeface="Telegraf Medium"/>
                <a:ea typeface="Telegraf Medium"/>
                <a:cs typeface="Telegraf Medium"/>
                <a:sym typeface="Telegraf Medium"/>
              </a:rPr>
              <a:t>prediction using historical daily data, implementing multiple forecasting approaches and comparing their performance.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bg>
      <p:bgPr>
        <a:solidFill>
          <a:srgbClr val="EEF4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480852" y="3001636"/>
            <a:ext cx="7572285" cy="3444802"/>
            <a:chOff x="0" y="0"/>
            <a:chExt cx="1994347" cy="90727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994347" cy="907273"/>
            </a:xfrm>
            <a:custGeom>
              <a:avLst/>
              <a:gdLst/>
              <a:ahLst/>
              <a:cxnLst/>
              <a:rect r="r" b="b" t="t" l="l"/>
              <a:pathLst>
                <a:path h="907273" w="1994347">
                  <a:moveTo>
                    <a:pt x="52143" y="0"/>
                  </a:moveTo>
                  <a:lnTo>
                    <a:pt x="1942204" y="0"/>
                  </a:lnTo>
                  <a:cubicBezTo>
                    <a:pt x="1971002" y="0"/>
                    <a:pt x="1994347" y="23345"/>
                    <a:pt x="1994347" y="52143"/>
                  </a:cubicBezTo>
                  <a:lnTo>
                    <a:pt x="1994347" y="855130"/>
                  </a:lnTo>
                  <a:cubicBezTo>
                    <a:pt x="1994347" y="883928"/>
                    <a:pt x="1971002" y="907273"/>
                    <a:pt x="1942204" y="907273"/>
                  </a:cubicBezTo>
                  <a:lnTo>
                    <a:pt x="52143" y="907273"/>
                  </a:lnTo>
                  <a:cubicBezTo>
                    <a:pt x="23345" y="907273"/>
                    <a:pt x="0" y="883928"/>
                    <a:pt x="0" y="855130"/>
                  </a:cubicBezTo>
                  <a:lnTo>
                    <a:pt x="0" y="52143"/>
                  </a:lnTo>
                  <a:cubicBezTo>
                    <a:pt x="0" y="23345"/>
                    <a:pt x="23345" y="0"/>
                    <a:pt x="52143" y="0"/>
                  </a:cubicBezTo>
                  <a:close/>
                </a:path>
              </a:pathLst>
            </a:custGeom>
            <a:solidFill>
              <a:srgbClr val="02B676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66675"/>
              <a:ext cx="1994347" cy="97394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-771207" y="2591509"/>
            <a:ext cx="11057462" cy="6920775"/>
            <a:chOff x="0" y="0"/>
            <a:chExt cx="2912253" cy="182275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912253" cy="1822755"/>
            </a:xfrm>
            <a:custGeom>
              <a:avLst/>
              <a:gdLst/>
              <a:ahLst/>
              <a:cxnLst/>
              <a:rect r="r" b="b" t="t" l="l"/>
              <a:pathLst>
                <a:path h="1822755" w="2912253">
                  <a:moveTo>
                    <a:pt x="35708" y="0"/>
                  </a:moveTo>
                  <a:lnTo>
                    <a:pt x="2876546" y="0"/>
                  </a:lnTo>
                  <a:cubicBezTo>
                    <a:pt x="2886016" y="0"/>
                    <a:pt x="2895098" y="3762"/>
                    <a:pt x="2901795" y="10459"/>
                  </a:cubicBezTo>
                  <a:cubicBezTo>
                    <a:pt x="2908491" y="17155"/>
                    <a:pt x="2912253" y="26238"/>
                    <a:pt x="2912253" y="35708"/>
                  </a:cubicBezTo>
                  <a:lnTo>
                    <a:pt x="2912253" y="1787048"/>
                  </a:lnTo>
                  <a:cubicBezTo>
                    <a:pt x="2912253" y="1806768"/>
                    <a:pt x="2896266" y="1822755"/>
                    <a:pt x="2876546" y="1822755"/>
                  </a:cubicBezTo>
                  <a:lnTo>
                    <a:pt x="35708" y="1822755"/>
                  </a:lnTo>
                  <a:cubicBezTo>
                    <a:pt x="15987" y="1822755"/>
                    <a:pt x="0" y="1806768"/>
                    <a:pt x="0" y="1787048"/>
                  </a:cubicBezTo>
                  <a:lnTo>
                    <a:pt x="0" y="35708"/>
                  </a:lnTo>
                  <a:cubicBezTo>
                    <a:pt x="0" y="15987"/>
                    <a:pt x="15987" y="0"/>
                    <a:pt x="35708" y="0"/>
                  </a:cubicBezTo>
                  <a:close/>
                </a:path>
              </a:pathLst>
            </a:custGeom>
            <a:solidFill>
              <a:srgbClr val="02B676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66675"/>
              <a:ext cx="2912253" cy="188943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950768" y="408531"/>
            <a:ext cx="8927786" cy="1958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99"/>
              </a:lnSpc>
            </a:pPr>
            <a:r>
              <a:rPr lang="en-US" sz="6999" spc="342">
                <a:solidFill>
                  <a:srgbClr val="290606"/>
                </a:solidFill>
                <a:latin typeface="Cheddar"/>
                <a:ea typeface="Cheddar"/>
                <a:cs typeface="Cheddar"/>
                <a:sym typeface="Cheddar"/>
              </a:rPr>
              <a:t>PROJECT OBJECTIVES &amp; SCOPE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783491" y="2608291"/>
            <a:ext cx="7948066" cy="67443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79"/>
              </a:lnSpc>
            </a:pPr>
            <a:r>
              <a:rPr lang="en-US" sz="2799" b="true">
                <a:solidFill>
                  <a:srgbClr val="FEC801"/>
                </a:solidFill>
                <a:latin typeface="Telegraf Medium"/>
                <a:ea typeface="Telegraf Medium"/>
                <a:cs typeface="Telegraf Medium"/>
                <a:sym typeface="Telegraf Medium"/>
              </a:rPr>
              <a:t>Objectives</a:t>
            </a:r>
          </a:p>
          <a:p>
            <a:pPr algn="l" marL="604519" indent="-302260" lvl="1">
              <a:lnSpc>
                <a:spcPts val="4479"/>
              </a:lnSpc>
              <a:buFont typeface="Arial"/>
              <a:buChar char="•"/>
            </a:pPr>
            <a:r>
              <a:rPr lang="en-US" b="true" sz="2799">
                <a:solidFill>
                  <a:srgbClr val="290606"/>
                </a:solidFill>
                <a:latin typeface="Telegraf Medium"/>
                <a:ea typeface="Telegraf Medium"/>
                <a:cs typeface="Telegraf Medium"/>
                <a:sym typeface="Telegraf Medium"/>
              </a:rPr>
              <a:t>Develop a </a:t>
            </a:r>
            <a:r>
              <a:rPr lang="en-US" b="true" sz="2799">
                <a:solidFill>
                  <a:srgbClr val="FEC801"/>
                </a:solidFill>
                <a:latin typeface="Telegraf Medium"/>
                <a:ea typeface="Telegraf Medium"/>
                <a:cs typeface="Telegraf Medium"/>
                <a:sym typeface="Telegraf Medium"/>
              </a:rPr>
              <a:t>next-day gold price</a:t>
            </a:r>
            <a:r>
              <a:rPr lang="en-US" b="true" sz="2799">
                <a:solidFill>
                  <a:srgbClr val="290606"/>
                </a:solidFill>
                <a:latin typeface="Telegraf Medium"/>
                <a:ea typeface="Telegraf Medium"/>
                <a:cs typeface="Telegraf Medium"/>
                <a:sym typeface="Telegraf Medium"/>
              </a:rPr>
              <a:t> forecasting system using historical daily data</a:t>
            </a:r>
          </a:p>
          <a:p>
            <a:pPr algn="l" marL="604519" indent="-302260" lvl="1">
              <a:lnSpc>
                <a:spcPts val="4479"/>
              </a:lnSpc>
              <a:buFont typeface="Arial"/>
              <a:buChar char="•"/>
            </a:pPr>
            <a:r>
              <a:rPr lang="en-US" b="true" sz="2799">
                <a:solidFill>
                  <a:srgbClr val="290606"/>
                </a:solidFill>
                <a:latin typeface="Telegraf Medium"/>
                <a:ea typeface="Telegraf Medium"/>
                <a:cs typeface="Telegraf Medium"/>
                <a:sym typeface="Telegraf Medium"/>
              </a:rPr>
              <a:t>Implement an </a:t>
            </a:r>
            <a:r>
              <a:rPr lang="en-US" b="true" sz="2799">
                <a:solidFill>
                  <a:srgbClr val="FEC801"/>
                </a:solidFill>
                <a:latin typeface="Telegraf Medium"/>
                <a:ea typeface="Telegraf Medium"/>
                <a:cs typeface="Telegraf Medium"/>
                <a:sym typeface="Telegraf Medium"/>
              </a:rPr>
              <a:t>autoregressive Decision Tree model</a:t>
            </a:r>
            <a:r>
              <a:rPr lang="en-US" b="true" sz="2799">
                <a:solidFill>
                  <a:srgbClr val="290606"/>
                </a:solidFill>
                <a:latin typeface="Telegraf Medium"/>
                <a:ea typeface="Telegraf Medium"/>
                <a:cs typeface="Telegraf Medium"/>
                <a:sym typeface="Telegraf Medium"/>
              </a:rPr>
              <a:t> with optimised lag selection via skforecast</a:t>
            </a:r>
          </a:p>
          <a:p>
            <a:pPr algn="l" marL="604519" indent="-302260" lvl="1">
              <a:lnSpc>
                <a:spcPts val="4479"/>
              </a:lnSpc>
              <a:buFont typeface="Arial"/>
              <a:buChar char="•"/>
            </a:pPr>
            <a:r>
              <a:rPr lang="en-US" b="true" sz="2799">
                <a:solidFill>
                  <a:srgbClr val="290606"/>
                </a:solidFill>
                <a:latin typeface="Telegraf Medium"/>
                <a:ea typeface="Telegraf Medium"/>
                <a:cs typeface="Telegraf Medium"/>
                <a:sym typeface="Telegraf Medium"/>
              </a:rPr>
              <a:t>Compare with </a:t>
            </a:r>
            <a:r>
              <a:rPr lang="en-US" b="true" sz="2799">
                <a:solidFill>
                  <a:srgbClr val="FEC801"/>
                </a:solidFill>
                <a:latin typeface="Telegraf Medium"/>
                <a:ea typeface="Telegraf Medium"/>
                <a:cs typeface="Telegraf Medium"/>
                <a:sym typeface="Telegraf Medium"/>
              </a:rPr>
              <a:t>Random Forest, MLP, Keras Dense, and LSTM models</a:t>
            </a:r>
          </a:p>
          <a:p>
            <a:pPr algn="l" marL="604519" indent="-302260" lvl="1">
              <a:lnSpc>
                <a:spcPts val="4479"/>
              </a:lnSpc>
              <a:buFont typeface="Arial"/>
              <a:buChar char="•"/>
            </a:pPr>
            <a:r>
              <a:rPr lang="en-US" b="true" sz="2799">
                <a:solidFill>
                  <a:srgbClr val="290606"/>
                </a:solidFill>
                <a:latin typeface="Telegraf Medium"/>
                <a:ea typeface="Telegraf Medium"/>
                <a:cs typeface="Telegraf Medium"/>
                <a:sym typeface="Telegraf Medium"/>
              </a:rPr>
              <a:t>Evaluate using </a:t>
            </a:r>
            <a:r>
              <a:rPr lang="en-US" b="true" sz="2799">
                <a:solidFill>
                  <a:srgbClr val="FEC801"/>
                </a:solidFill>
                <a:latin typeface="Telegraf Medium"/>
                <a:ea typeface="Telegraf Medium"/>
                <a:cs typeface="Telegraf Medium"/>
                <a:sym typeface="Telegraf Medium"/>
              </a:rPr>
              <a:t>MAE &amp; RMSE error</a:t>
            </a:r>
            <a:r>
              <a:rPr lang="en-US" b="true" sz="2799">
                <a:solidFill>
                  <a:srgbClr val="290606"/>
                </a:solidFill>
                <a:latin typeface="Telegraf Medium"/>
                <a:ea typeface="Telegraf Medium"/>
                <a:cs typeface="Telegraf Medium"/>
                <a:sym typeface="Telegraf Medium"/>
              </a:rPr>
              <a:t> metrics</a:t>
            </a:r>
          </a:p>
          <a:p>
            <a:pPr algn="l" marL="604519" indent="-302260" lvl="1">
              <a:lnSpc>
                <a:spcPts val="4479"/>
              </a:lnSpc>
              <a:buFont typeface="Arial"/>
              <a:buChar char="•"/>
            </a:pPr>
            <a:r>
              <a:rPr lang="en-US" b="true" sz="2799">
                <a:solidFill>
                  <a:srgbClr val="290606"/>
                </a:solidFill>
                <a:latin typeface="Telegraf Medium"/>
                <a:ea typeface="Telegraf Medium"/>
                <a:cs typeface="Telegraf Medium"/>
                <a:sym typeface="Telegraf Medium"/>
              </a:rPr>
              <a:t>Implement a </a:t>
            </a:r>
            <a:r>
              <a:rPr lang="en-US" b="true" sz="2799">
                <a:solidFill>
                  <a:srgbClr val="FEC801"/>
                </a:solidFill>
                <a:latin typeface="Telegraf Medium"/>
                <a:ea typeface="Telegraf Medium"/>
                <a:cs typeface="Telegraf Medium"/>
                <a:sym typeface="Telegraf Medium"/>
              </a:rPr>
              <a:t>daily rolling prediction</a:t>
            </a:r>
            <a:r>
              <a:rPr lang="en-US" b="true" sz="2799">
                <a:solidFill>
                  <a:srgbClr val="290606"/>
                </a:solidFill>
                <a:latin typeface="Telegraf Medium"/>
                <a:ea typeface="Telegraf Medium"/>
                <a:cs typeface="Telegraf Medium"/>
                <a:sym typeface="Telegraf Medium"/>
              </a:rPr>
              <a:t> framework with automatic dataset updates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610027" y="3292442"/>
            <a:ext cx="7313936" cy="26206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60"/>
              </a:lnSpc>
            </a:pPr>
            <a:r>
              <a:rPr lang="en-US" sz="2600" b="true">
                <a:solidFill>
                  <a:srgbClr val="FEC801"/>
                </a:solidFill>
                <a:latin typeface="Telegraf Medium"/>
                <a:ea typeface="Telegraf Medium"/>
                <a:cs typeface="Telegraf Medium"/>
                <a:sym typeface="Telegraf Medium"/>
              </a:rPr>
              <a:t>Scope</a:t>
            </a:r>
          </a:p>
          <a:p>
            <a:pPr algn="l" marL="561341" indent="-280670" lvl="1">
              <a:lnSpc>
                <a:spcPts val="4160"/>
              </a:lnSpc>
              <a:buFont typeface="Arial"/>
              <a:buChar char="•"/>
            </a:pPr>
            <a:r>
              <a:rPr lang="en-US" b="true" sz="2600">
                <a:solidFill>
                  <a:srgbClr val="290606"/>
                </a:solidFill>
                <a:latin typeface="Telegraf Medium"/>
                <a:ea typeface="Telegraf Medium"/>
                <a:cs typeface="Telegraf Medium"/>
                <a:sym typeface="Telegraf Medium"/>
              </a:rPr>
              <a:t>Daily (1D) gold futures data — GC=F</a:t>
            </a:r>
          </a:p>
          <a:p>
            <a:pPr algn="l" marL="561341" indent="-280670" lvl="1">
              <a:lnSpc>
                <a:spcPts val="4160"/>
              </a:lnSpc>
              <a:buFont typeface="Arial"/>
              <a:buChar char="•"/>
            </a:pPr>
            <a:r>
              <a:rPr lang="en-US" b="true" sz="2600">
                <a:solidFill>
                  <a:srgbClr val="290606"/>
                </a:solidFill>
                <a:latin typeface="Telegraf Medium"/>
                <a:ea typeface="Telegraf Medium"/>
                <a:cs typeface="Telegraf Medium"/>
                <a:sym typeface="Telegraf Medium"/>
              </a:rPr>
              <a:t>Forecasting horizon: </a:t>
            </a:r>
            <a:r>
              <a:rPr lang="en-US" b="true" sz="2600">
                <a:solidFill>
                  <a:srgbClr val="FEC801"/>
                </a:solidFill>
                <a:latin typeface="Telegraf Medium"/>
                <a:ea typeface="Telegraf Medium"/>
                <a:cs typeface="Telegraf Medium"/>
                <a:sym typeface="Telegraf Medium"/>
              </a:rPr>
              <a:t>1-day ahead</a:t>
            </a:r>
          </a:p>
          <a:p>
            <a:pPr algn="l" marL="561341" indent="-280670" lvl="1">
              <a:lnSpc>
                <a:spcPts val="4160"/>
              </a:lnSpc>
              <a:buFont typeface="Arial"/>
              <a:buChar char="•"/>
            </a:pPr>
            <a:r>
              <a:rPr lang="en-US" b="true" sz="2600">
                <a:solidFill>
                  <a:srgbClr val="290606"/>
                </a:solidFill>
                <a:latin typeface="Telegraf Medium"/>
                <a:ea typeface="Telegraf Medium"/>
                <a:cs typeface="Telegraf Medium"/>
                <a:sym typeface="Telegraf Medium"/>
              </a:rPr>
              <a:t>No external macro indicators (price-only)</a:t>
            </a:r>
          </a:p>
          <a:p>
            <a:pPr algn="l" marL="561341" indent="-280670" lvl="1">
              <a:lnSpc>
                <a:spcPts val="4160"/>
              </a:lnSpc>
              <a:buFont typeface="Arial"/>
              <a:buChar char="•"/>
            </a:pPr>
            <a:r>
              <a:rPr lang="en-US" b="true" sz="2600">
                <a:solidFill>
                  <a:srgbClr val="290606"/>
                </a:solidFill>
                <a:latin typeface="Telegraf Medium"/>
                <a:ea typeface="Telegraf Medium"/>
                <a:cs typeface="Telegraf Medium"/>
                <a:sym typeface="Telegraf Medium"/>
              </a:rPr>
              <a:t>Lag features: up to 30-day variations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10480852" y="6715745"/>
            <a:ext cx="7572285" cy="2906188"/>
            <a:chOff x="0" y="0"/>
            <a:chExt cx="1994347" cy="765416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994347" cy="765416"/>
            </a:xfrm>
            <a:custGeom>
              <a:avLst/>
              <a:gdLst/>
              <a:ahLst/>
              <a:cxnLst/>
              <a:rect r="r" b="b" t="t" l="l"/>
              <a:pathLst>
                <a:path h="765416" w="1994347">
                  <a:moveTo>
                    <a:pt x="52143" y="0"/>
                  </a:moveTo>
                  <a:lnTo>
                    <a:pt x="1942204" y="0"/>
                  </a:lnTo>
                  <a:cubicBezTo>
                    <a:pt x="1971002" y="0"/>
                    <a:pt x="1994347" y="23345"/>
                    <a:pt x="1994347" y="52143"/>
                  </a:cubicBezTo>
                  <a:lnTo>
                    <a:pt x="1994347" y="713273"/>
                  </a:lnTo>
                  <a:cubicBezTo>
                    <a:pt x="1994347" y="742071"/>
                    <a:pt x="1971002" y="765416"/>
                    <a:pt x="1942204" y="765416"/>
                  </a:cubicBezTo>
                  <a:lnTo>
                    <a:pt x="52143" y="765416"/>
                  </a:lnTo>
                  <a:cubicBezTo>
                    <a:pt x="23345" y="765416"/>
                    <a:pt x="0" y="742071"/>
                    <a:pt x="0" y="713273"/>
                  </a:cubicBezTo>
                  <a:lnTo>
                    <a:pt x="0" y="52143"/>
                  </a:lnTo>
                  <a:cubicBezTo>
                    <a:pt x="0" y="23345"/>
                    <a:pt x="23345" y="0"/>
                    <a:pt x="52143" y="0"/>
                  </a:cubicBezTo>
                  <a:close/>
                </a:path>
              </a:pathLst>
            </a:custGeom>
            <a:solidFill>
              <a:srgbClr val="02B676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66675"/>
              <a:ext cx="1994347" cy="83209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10610027" y="7053779"/>
            <a:ext cx="7313936" cy="20967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60"/>
              </a:lnSpc>
            </a:pPr>
            <a:r>
              <a:rPr lang="en-US" sz="2600" b="true">
                <a:solidFill>
                  <a:srgbClr val="FEC801"/>
                </a:solidFill>
                <a:latin typeface="Telegraf Medium"/>
                <a:ea typeface="Telegraf Medium"/>
                <a:cs typeface="Telegraf Medium"/>
                <a:sym typeface="Telegraf Medium"/>
              </a:rPr>
              <a:t>Limitations</a:t>
            </a:r>
          </a:p>
          <a:p>
            <a:pPr algn="l" marL="561341" indent="-280670" lvl="1">
              <a:lnSpc>
                <a:spcPts val="4160"/>
              </a:lnSpc>
              <a:buFont typeface="Arial"/>
              <a:buChar char="•"/>
            </a:pPr>
            <a:r>
              <a:rPr lang="en-US" b="true" sz="2600">
                <a:solidFill>
                  <a:srgbClr val="290606"/>
                </a:solidFill>
                <a:latin typeface="Telegraf Medium"/>
                <a:ea typeface="Telegraf Medium"/>
                <a:cs typeface="Telegraf Medium"/>
                <a:sym typeface="Telegraf Medium"/>
              </a:rPr>
              <a:t>Not suitable for real-time or HFT trading</a:t>
            </a:r>
          </a:p>
          <a:p>
            <a:pPr algn="l" marL="561341" indent="-280670" lvl="1">
              <a:lnSpc>
                <a:spcPts val="4160"/>
              </a:lnSpc>
              <a:buFont typeface="Arial"/>
              <a:buChar char="•"/>
            </a:pPr>
            <a:r>
              <a:rPr lang="en-US" b="true" sz="2600">
                <a:solidFill>
                  <a:srgbClr val="290606"/>
                </a:solidFill>
                <a:latin typeface="Telegraf Medium"/>
                <a:ea typeface="Telegraf Medium"/>
                <a:cs typeface="Telegraf Medium"/>
                <a:sym typeface="Telegraf Medium"/>
              </a:rPr>
              <a:t>Decision-support tool only</a:t>
            </a:r>
          </a:p>
          <a:p>
            <a:pPr algn="l" marL="561341" indent="-280670" lvl="1">
              <a:lnSpc>
                <a:spcPts val="4160"/>
              </a:lnSpc>
              <a:buFont typeface="Arial"/>
              <a:buChar char="•"/>
            </a:pPr>
            <a:r>
              <a:rPr lang="en-US" b="true" sz="2600">
                <a:solidFill>
                  <a:srgbClr val="290606"/>
                </a:solidFill>
                <a:latin typeface="Telegraf Medium"/>
                <a:ea typeface="Telegraf Medium"/>
                <a:cs typeface="Telegraf Medium"/>
                <a:sym typeface="Telegraf Medium"/>
              </a:rPr>
              <a:t>No news sentiment or geopolitical data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bg>
      <p:bgPr>
        <a:solidFill>
          <a:srgbClr val="EEF4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424378" y="2814416"/>
            <a:ext cx="3984347" cy="2593758"/>
            <a:chOff x="0" y="0"/>
            <a:chExt cx="1737573" cy="113113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737573" cy="1131138"/>
            </a:xfrm>
            <a:custGeom>
              <a:avLst/>
              <a:gdLst/>
              <a:ahLst/>
              <a:cxnLst/>
              <a:rect r="r" b="b" t="t" l="l"/>
              <a:pathLst>
                <a:path h="1131138" w="1737573">
                  <a:moveTo>
                    <a:pt x="19431" y="0"/>
                  </a:moveTo>
                  <a:lnTo>
                    <a:pt x="1718142" y="0"/>
                  </a:lnTo>
                  <a:cubicBezTo>
                    <a:pt x="1723296" y="0"/>
                    <a:pt x="1728238" y="2047"/>
                    <a:pt x="1731882" y="5691"/>
                  </a:cubicBezTo>
                  <a:cubicBezTo>
                    <a:pt x="1735526" y="9335"/>
                    <a:pt x="1737573" y="14277"/>
                    <a:pt x="1737573" y="19431"/>
                  </a:cubicBezTo>
                  <a:lnTo>
                    <a:pt x="1737573" y="1111707"/>
                  </a:lnTo>
                  <a:cubicBezTo>
                    <a:pt x="1737573" y="1116860"/>
                    <a:pt x="1735526" y="1121802"/>
                    <a:pt x="1731882" y="1125446"/>
                  </a:cubicBezTo>
                  <a:cubicBezTo>
                    <a:pt x="1728238" y="1129090"/>
                    <a:pt x="1723296" y="1131138"/>
                    <a:pt x="1718142" y="1131138"/>
                  </a:cubicBezTo>
                  <a:lnTo>
                    <a:pt x="19431" y="1131138"/>
                  </a:lnTo>
                  <a:cubicBezTo>
                    <a:pt x="8699" y="1131138"/>
                    <a:pt x="0" y="1122438"/>
                    <a:pt x="0" y="1111707"/>
                  </a:cubicBezTo>
                  <a:lnTo>
                    <a:pt x="0" y="19431"/>
                  </a:lnTo>
                  <a:cubicBezTo>
                    <a:pt x="0" y="14277"/>
                    <a:pt x="2047" y="9335"/>
                    <a:pt x="5691" y="5691"/>
                  </a:cubicBezTo>
                  <a:cubicBezTo>
                    <a:pt x="9335" y="2047"/>
                    <a:pt x="14277" y="0"/>
                    <a:pt x="19431" y="0"/>
                  </a:cubicBezTo>
                  <a:close/>
                </a:path>
              </a:pathLst>
            </a:custGeom>
            <a:solidFill>
              <a:srgbClr val="02B676">
                <a:alpha val="69804"/>
              </a:srgbClr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737573" cy="1169238"/>
            </a:xfrm>
            <a:prstGeom prst="rect">
              <a:avLst/>
            </a:prstGeom>
          </p:spPr>
          <p:txBody>
            <a:bodyPr anchor="ctr" rtlCol="false" tIns="80497" lIns="80497" bIns="80497" rIns="80497"/>
            <a:lstStyle/>
            <a:p>
              <a:pPr algn="ctr">
                <a:lnSpc>
                  <a:spcPts val="359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4886002" y="6080544"/>
            <a:ext cx="3984347" cy="2593758"/>
            <a:chOff x="0" y="0"/>
            <a:chExt cx="1737573" cy="1131138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737573" cy="1131138"/>
            </a:xfrm>
            <a:custGeom>
              <a:avLst/>
              <a:gdLst/>
              <a:ahLst/>
              <a:cxnLst/>
              <a:rect r="r" b="b" t="t" l="l"/>
              <a:pathLst>
                <a:path h="1131138" w="1737573">
                  <a:moveTo>
                    <a:pt x="19431" y="0"/>
                  </a:moveTo>
                  <a:lnTo>
                    <a:pt x="1718142" y="0"/>
                  </a:lnTo>
                  <a:cubicBezTo>
                    <a:pt x="1723296" y="0"/>
                    <a:pt x="1728238" y="2047"/>
                    <a:pt x="1731882" y="5691"/>
                  </a:cubicBezTo>
                  <a:cubicBezTo>
                    <a:pt x="1735526" y="9335"/>
                    <a:pt x="1737573" y="14277"/>
                    <a:pt x="1737573" y="19431"/>
                  </a:cubicBezTo>
                  <a:lnTo>
                    <a:pt x="1737573" y="1111707"/>
                  </a:lnTo>
                  <a:cubicBezTo>
                    <a:pt x="1737573" y="1116860"/>
                    <a:pt x="1735526" y="1121802"/>
                    <a:pt x="1731882" y="1125446"/>
                  </a:cubicBezTo>
                  <a:cubicBezTo>
                    <a:pt x="1728238" y="1129090"/>
                    <a:pt x="1723296" y="1131138"/>
                    <a:pt x="1718142" y="1131138"/>
                  </a:cubicBezTo>
                  <a:lnTo>
                    <a:pt x="19431" y="1131138"/>
                  </a:lnTo>
                  <a:cubicBezTo>
                    <a:pt x="8699" y="1131138"/>
                    <a:pt x="0" y="1122438"/>
                    <a:pt x="0" y="1111707"/>
                  </a:cubicBezTo>
                  <a:lnTo>
                    <a:pt x="0" y="19431"/>
                  </a:lnTo>
                  <a:cubicBezTo>
                    <a:pt x="0" y="14277"/>
                    <a:pt x="2047" y="9335"/>
                    <a:pt x="5691" y="5691"/>
                  </a:cubicBezTo>
                  <a:cubicBezTo>
                    <a:pt x="9335" y="2047"/>
                    <a:pt x="14277" y="0"/>
                    <a:pt x="19431" y="0"/>
                  </a:cubicBezTo>
                  <a:close/>
                </a:path>
              </a:pathLst>
            </a:custGeom>
            <a:solidFill>
              <a:srgbClr val="02B676">
                <a:alpha val="69804"/>
              </a:srgbClr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1737573" cy="1169238"/>
            </a:xfrm>
            <a:prstGeom prst="rect">
              <a:avLst/>
            </a:prstGeom>
          </p:spPr>
          <p:txBody>
            <a:bodyPr anchor="ctr" rtlCol="false" tIns="80497" lIns="80497" bIns="80497" rIns="80497"/>
            <a:lstStyle/>
            <a:p>
              <a:pPr algn="ctr">
                <a:lnSpc>
                  <a:spcPts val="359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7151827" y="2814416"/>
            <a:ext cx="3984347" cy="2593758"/>
            <a:chOff x="0" y="0"/>
            <a:chExt cx="1737573" cy="1131138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737573" cy="1131138"/>
            </a:xfrm>
            <a:custGeom>
              <a:avLst/>
              <a:gdLst/>
              <a:ahLst/>
              <a:cxnLst/>
              <a:rect r="r" b="b" t="t" l="l"/>
              <a:pathLst>
                <a:path h="1131138" w="1737573">
                  <a:moveTo>
                    <a:pt x="19431" y="0"/>
                  </a:moveTo>
                  <a:lnTo>
                    <a:pt x="1718142" y="0"/>
                  </a:lnTo>
                  <a:cubicBezTo>
                    <a:pt x="1723296" y="0"/>
                    <a:pt x="1728238" y="2047"/>
                    <a:pt x="1731882" y="5691"/>
                  </a:cubicBezTo>
                  <a:cubicBezTo>
                    <a:pt x="1735526" y="9335"/>
                    <a:pt x="1737573" y="14277"/>
                    <a:pt x="1737573" y="19431"/>
                  </a:cubicBezTo>
                  <a:lnTo>
                    <a:pt x="1737573" y="1111707"/>
                  </a:lnTo>
                  <a:cubicBezTo>
                    <a:pt x="1737573" y="1116860"/>
                    <a:pt x="1735526" y="1121802"/>
                    <a:pt x="1731882" y="1125446"/>
                  </a:cubicBezTo>
                  <a:cubicBezTo>
                    <a:pt x="1728238" y="1129090"/>
                    <a:pt x="1723296" y="1131138"/>
                    <a:pt x="1718142" y="1131138"/>
                  </a:cubicBezTo>
                  <a:lnTo>
                    <a:pt x="19431" y="1131138"/>
                  </a:lnTo>
                  <a:cubicBezTo>
                    <a:pt x="8699" y="1131138"/>
                    <a:pt x="0" y="1122438"/>
                    <a:pt x="0" y="1111707"/>
                  </a:cubicBezTo>
                  <a:lnTo>
                    <a:pt x="0" y="19431"/>
                  </a:lnTo>
                  <a:cubicBezTo>
                    <a:pt x="0" y="14277"/>
                    <a:pt x="2047" y="9335"/>
                    <a:pt x="5691" y="5691"/>
                  </a:cubicBezTo>
                  <a:cubicBezTo>
                    <a:pt x="9335" y="2047"/>
                    <a:pt x="14277" y="0"/>
                    <a:pt x="19431" y="0"/>
                  </a:cubicBezTo>
                  <a:close/>
                </a:path>
              </a:pathLst>
            </a:custGeom>
            <a:solidFill>
              <a:srgbClr val="02B676">
                <a:alpha val="69804"/>
              </a:srgbClr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1737573" cy="1169238"/>
            </a:xfrm>
            <a:prstGeom prst="rect">
              <a:avLst/>
            </a:prstGeom>
          </p:spPr>
          <p:txBody>
            <a:bodyPr anchor="ctr" rtlCol="false" tIns="80497" lIns="80497" bIns="80497" rIns="80497"/>
            <a:lstStyle/>
            <a:p>
              <a:pPr algn="ctr">
                <a:lnSpc>
                  <a:spcPts val="3599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9613450" y="6080544"/>
            <a:ext cx="3984347" cy="2593758"/>
            <a:chOff x="0" y="0"/>
            <a:chExt cx="1737573" cy="1131138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737573" cy="1131138"/>
            </a:xfrm>
            <a:custGeom>
              <a:avLst/>
              <a:gdLst/>
              <a:ahLst/>
              <a:cxnLst/>
              <a:rect r="r" b="b" t="t" l="l"/>
              <a:pathLst>
                <a:path h="1131138" w="1737573">
                  <a:moveTo>
                    <a:pt x="19431" y="0"/>
                  </a:moveTo>
                  <a:lnTo>
                    <a:pt x="1718142" y="0"/>
                  </a:lnTo>
                  <a:cubicBezTo>
                    <a:pt x="1723296" y="0"/>
                    <a:pt x="1728238" y="2047"/>
                    <a:pt x="1731882" y="5691"/>
                  </a:cubicBezTo>
                  <a:cubicBezTo>
                    <a:pt x="1735526" y="9335"/>
                    <a:pt x="1737573" y="14277"/>
                    <a:pt x="1737573" y="19431"/>
                  </a:cubicBezTo>
                  <a:lnTo>
                    <a:pt x="1737573" y="1111707"/>
                  </a:lnTo>
                  <a:cubicBezTo>
                    <a:pt x="1737573" y="1116860"/>
                    <a:pt x="1735526" y="1121802"/>
                    <a:pt x="1731882" y="1125446"/>
                  </a:cubicBezTo>
                  <a:cubicBezTo>
                    <a:pt x="1728238" y="1129090"/>
                    <a:pt x="1723296" y="1131138"/>
                    <a:pt x="1718142" y="1131138"/>
                  </a:cubicBezTo>
                  <a:lnTo>
                    <a:pt x="19431" y="1131138"/>
                  </a:lnTo>
                  <a:cubicBezTo>
                    <a:pt x="8699" y="1131138"/>
                    <a:pt x="0" y="1122438"/>
                    <a:pt x="0" y="1111707"/>
                  </a:cubicBezTo>
                  <a:lnTo>
                    <a:pt x="0" y="19431"/>
                  </a:lnTo>
                  <a:cubicBezTo>
                    <a:pt x="0" y="14277"/>
                    <a:pt x="2047" y="9335"/>
                    <a:pt x="5691" y="5691"/>
                  </a:cubicBezTo>
                  <a:cubicBezTo>
                    <a:pt x="9335" y="2047"/>
                    <a:pt x="14277" y="0"/>
                    <a:pt x="19431" y="0"/>
                  </a:cubicBezTo>
                  <a:close/>
                </a:path>
              </a:pathLst>
            </a:custGeom>
            <a:solidFill>
              <a:srgbClr val="02B676">
                <a:alpha val="69804"/>
              </a:srgbClr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1737573" cy="1169238"/>
            </a:xfrm>
            <a:prstGeom prst="rect">
              <a:avLst/>
            </a:prstGeom>
          </p:spPr>
          <p:txBody>
            <a:bodyPr anchor="ctr" rtlCol="false" tIns="80497" lIns="80497" bIns="80497" rIns="80497"/>
            <a:lstStyle/>
            <a:p>
              <a:pPr algn="ctr">
                <a:lnSpc>
                  <a:spcPts val="3599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1879275" y="2814416"/>
            <a:ext cx="3984347" cy="2593758"/>
            <a:chOff x="0" y="0"/>
            <a:chExt cx="1737573" cy="1131138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737573" cy="1131138"/>
            </a:xfrm>
            <a:custGeom>
              <a:avLst/>
              <a:gdLst/>
              <a:ahLst/>
              <a:cxnLst/>
              <a:rect r="r" b="b" t="t" l="l"/>
              <a:pathLst>
                <a:path h="1131138" w="1737573">
                  <a:moveTo>
                    <a:pt x="19431" y="0"/>
                  </a:moveTo>
                  <a:lnTo>
                    <a:pt x="1718142" y="0"/>
                  </a:lnTo>
                  <a:cubicBezTo>
                    <a:pt x="1723296" y="0"/>
                    <a:pt x="1728238" y="2047"/>
                    <a:pt x="1731882" y="5691"/>
                  </a:cubicBezTo>
                  <a:cubicBezTo>
                    <a:pt x="1735526" y="9335"/>
                    <a:pt x="1737573" y="14277"/>
                    <a:pt x="1737573" y="19431"/>
                  </a:cubicBezTo>
                  <a:lnTo>
                    <a:pt x="1737573" y="1111707"/>
                  </a:lnTo>
                  <a:cubicBezTo>
                    <a:pt x="1737573" y="1116860"/>
                    <a:pt x="1735526" y="1121802"/>
                    <a:pt x="1731882" y="1125446"/>
                  </a:cubicBezTo>
                  <a:cubicBezTo>
                    <a:pt x="1728238" y="1129090"/>
                    <a:pt x="1723296" y="1131138"/>
                    <a:pt x="1718142" y="1131138"/>
                  </a:cubicBezTo>
                  <a:lnTo>
                    <a:pt x="19431" y="1131138"/>
                  </a:lnTo>
                  <a:cubicBezTo>
                    <a:pt x="8699" y="1131138"/>
                    <a:pt x="0" y="1122438"/>
                    <a:pt x="0" y="1111707"/>
                  </a:cubicBezTo>
                  <a:lnTo>
                    <a:pt x="0" y="19431"/>
                  </a:lnTo>
                  <a:cubicBezTo>
                    <a:pt x="0" y="14277"/>
                    <a:pt x="2047" y="9335"/>
                    <a:pt x="5691" y="5691"/>
                  </a:cubicBezTo>
                  <a:cubicBezTo>
                    <a:pt x="9335" y="2047"/>
                    <a:pt x="14277" y="0"/>
                    <a:pt x="19431" y="0"/>
                  </a:cubicBezTo>
                  <a:close/>
                </a:path>
              </a:pathLst>
            </a:custGeom>
            <a:solidFill>
              <a:srgbClr val="02B676">
                <a:alpha val="69804"/>
              </a:srgbClr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1737573" cy="1169238"/>
            </a:xfrm>
            <a:prstGeom prst="rect">
              <a:avLst/>
            </a:prstGeom>
          </p:spPr>
          <p:txBody>
            <a:bodyPr anchor="ctr" rtlCol="false" tIns="80497" lIns="80497" bIns="80497" rIns="80497"/>
            <a:lstStyle/>
            <a:p>
              <a:pPr algn="ctr">
                <a:lnSpc>
                  <a:spcPts val="3599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8674550" y="2344966"/>
            <a:ext cx="938900" cy="938900"/>
            <a:chOff x="0" y="0"/>
            <a:chExt cx="812800" cy="8128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DEBE6"/>
            </a:solidFill>
            <a:ln w="38100" cap="sq">
              <a:solidFill>
                <a:srgbClr val="292828"/>
              </a:solidFill>
              <a:prstDash val="solid"/>
              <a:miter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5399"/>
                </a:lnSpc>
              </a:pP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11136173" y="5611094"/>
            <a:ext cx="938900" cy="938900"/>
            <a:chOff x="0" y="0"/>
            <a:chExt cx="812800" cy="8128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DEBE6"/>
            </a:solidFill>
            <a:ln w="38100" cap="sq">
              <a:solidFill>
                <a:srgbClr val="292828"/>
              </a:solidFill>
              <a:prstDash val="solid"/>
              <a:miter/>
            </a:ln>
          </p:spPr>
        </p:sp>
        <p:sp>
          <p:nvSpPr>
            <p:cNvPr name="TextBox 22" id="22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5399"/>
                </a:lnSpc>
              </a:pP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3947101" y="2344966"/>
            <a:ext cx="938900" cy="938900"/>
            <a:chOff x="0" y="0"/>
            <a:chExt cx="812800" cy="81280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DEBE6"/>
            </a:solidFill>
            <a:ln w="38100" cap="sq">
              <a:solidFill>
                <a:srgbClr val="292828"/>
              </a:solidFill>
              <a:prstDash val="solid"/>
              <a:miter/>
            </a:ln>
          </p:spPr>
        </p:sp>
        <p:sp>
          <p:nvSpPr>
            <p:cNvPr name="TextBox 25" id="25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5399"/>
                </a:lnSpc>
              </a:pP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6408725" y="5611094"/>
            <a:ext cx="938900" cy="938900"/>
            <a:chOff x="0" y="0"/>
            <a:chExt cx="812800" cy="81280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DEBE6"/>
            </a:solidFill>
            <a:ln w="38100" cap="sq">
              <a:solidFill>
                <a:srgbClr val="292828"/>
              </a:solidFill>
              <a:prstDash val="solid"/>
              <a:miter/>
            </a:ln>
          </p:spPr>
        </p:sp>
        <p:sp>
          <p:nvSpPr>
            <p:cNvPr name="TextBox 28" id="28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5399"/>
                </a:lnSpc>
              </a:pP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13401998" y="2344966"/>
            <a:ext cx="938900" cy="938900"/>
            <a:chOff x="0" y="0"/>
            <a:chExt cx="812800" cy="81280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DEBE6"/>
            </a:solidFill>
            <a:ln w="38100" cap="sq">
              <a:solidFill>
                <a:srgbClr val="292828"/>
              </a:solidFill>
              <a:prstDash val="solid"/>
              <a:miter/>
            </a:ln>
          </p:spPr>
        </p:sp>
        <p:sp>
          <p:nvSpPr>
            <p:cNvPr name="TextBox 31" id="31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5399"/>
                </a:lnSpc>
              </a:pPr>
            </a:p>
          </p:txBody>
        </p:sp>
      </p:grpSp>
      <p:sp>
        <p:nvSpPr>
          <p:cNvPr name="TextBox 32" id="32"/>
          <p:cNvSpPr txBox="true"/>
          <p:nvPr/>
        </p:nvSpPr>
        <p:spPr>
          <a:xfrm rot="0">
            <a:off x="1028700" y="1019175"/>
            <a:ext cx="8115300" cy="1073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99"/>
              </a:lnSpc>
            </a:pPr>
            <a:r>
              <a:rPr lang="en-US" sz="6999" spc="342">
                <a:solidFill>
                  <a:srgbClr val="290606"/>
                </a:solidFill>
                <a:latin typeface="Cheddar"/>
                <a:ea typeface="Cheddar"/>
                <a:cs typeface="Cheddar"/>
                <a:sym typeface="Cheddar"/>
              </a:rPr>
              <a:t>DATASET OVERVIEW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2647870" y="3521991"/>
            <a:ext cx="3537364" cy="476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00"/>
              </a:lnSpc>
            </a:pPr>
            <a:r>
              <a:rPr lang="en-US" sz="3000" spc="147">
                <a:solidFill>
                  <a:srgbClr val="290606"/>
                </a:solidFill>
                <a:latin typeface="Cheddar"/>
                <a:ea typeface="Cheddar"/>
                <a:cs typeface="Cheddar"/>
                <a:sym typeface="Cheddar"/>
              </a:rPr>
              <a:t>TRADING DAYS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2647870" y="4294298"/>
            <a:ext cx="3537364" cy="356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00"/>
              </a:lnSpc>
            </a:pPr>
            <a:r>
              <a:rPr lang="en-US" b="true" sz="2400" spc="117">
                <a:solidFill>
                  <a:srgbClr val="290606"/>
                </a:solidFill>
                <a:latin typeface="Telegraf Bold"/>
                <a:ea typeface="Telegraf Bold"/>
                <a:cs typeface="Telegraf Bold"/>
                <a:sym typeface="Telegraf Bold"/>
              </a:rPr>
              <a:t>4,327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5109493" y="7512019"/>
            <a:ext cx="3537364" cy="356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00"/>
              </a:lnSpc>
            </a:pPr>
            <a:r>
              <a:rPr lang="en-US" b="true" sz="2400" spc="117">
                <a:solidFill>
                  <a:srgbClr val="290606"/>
                </a:solidFill>
                <a:latin typeface="Telegraf Bold"/>
                <a:ea typeface="Telegraf Bold"/>
                <a:cs typeface="Telegraf Bold"/>
                <a:sym typeface="Telegraf Bold"/>
              </a:rPr>
              <a:t>$806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7375318" y="4294298"/>
            <a:ext cx="3537364" cy="356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00"/>
              </a:lnSpc>
            </a:pPr>
            <a:r>
              <a:rPr lang="en-US" b="true" sz="2400" spc="117">
                <a:solidFill>
                  <a:srgbClr val="290606"/>
                </a:solidFill>
                <a:latin typeface="Telegraf Bold"/>
                <a:ea typeface="Telegraf Bold"/>
                <a:cs typeface="Telegraf Bold"/>
                <a:sym typeface="Telegraf Bold"/>
              </a:rPr>
              <a:t>2022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9836942" y="7512019"/>
            <a:ext cx="3537364" cy="356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00"/>
              </a:lnSpc>
            </a:pPr>
            <a:r>
              <a:rPr lang="en-US" b="true" sz="2400" spc="117">
                <a:solidFill>
                  <a:srgbClr val="290606"/>
                </a:solidFill>
                <a:latin typeface="Telegraf Bold"/>
                <a:ea typeface="Telegraf Bold"/>
                <a:cs typeface="Telegraf Bold"/>
                <a:sym typeface="Telegraf Bold"/>
              </a:rPr>
              <a:t>$5,318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12102766" y="4294298"/>
            <a:ext cx="3537364" cy="356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00"/>
              </a:lnSpc>
            </a:pPr>
            <a:r>
              <a:rPr lang="en-US" b="true" sz="2400" spc="117">
                <a:solidFill>
                  <a:srgbClr val="290606"/>
                </a:solidFill>
                <a:latin typeface="Telegraf Bold"/>
                <a:ea typeface="Telegraf Bold"/>
                <a:cs typeface="Telegraf Bold"/>
                <a:sym typeface="Telegraf Bold"/>
              </a:rPr>
              <a:t>2026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5109493" y="6730969"/>
            <a:ext cx="3537364" cy="476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00"/>
              </a:lnSpc>
            </a:pPr>
            <a:r>
              <a:rPr lang="en-US" sz="3000" spc="147">
                <a:solidFill>
                  <a:srgbClr val="290606"/>
                </a:solidFill>
                <a:latin typeface="Cheddar"/>
                <a:ea typeface="Cheddar"/>
                <a:cs typeface="Cheddar"/>
                <a:sym typeface="Cheddar"/>
              </a:rPr>
              <a:t>MIN CLOSE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7375318" y="3521991"/>
            <a:ext cx="3537364" cy="476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00"/>
              </a:lnSpc>
            </a:pPr>
            <a:r>
              <a:rPr lang="en-US" sz="3000" spc="147">
                <a:solidFill>
                  <a:srgbClr val="290606"/>
                </a:solidFill>
                <a:latin typeface="Cheddar"/>
                <a:ea typeface="Cheddar"/>
                <a:cs typeface="Cheddar"/>
                <a:sym typeface="Cheddar"/>
              </a:rPr>
              <a:t>START YEAR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9836942" y="6730969"/>
            <a:ext cx="3537364" cy="476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00"/>
              </a:lnSpc>
            </a:pPr>
            <a:r>
              <a:rPr lang="en-US" sz="3000" spc="147">
                <a:solidFill>
                  <a:srgbClr val="290606"/>
                </a:solidFill>
                <a:latin typeface="Cheddar"/>
                <a:ea typeface="Cheddar"/>
                <a:cs typeface="Cheddar"/>
                <a:sym typeface="Cheddar"/>
              </a:rPr>
              <a:t>MAX CLOSE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12102766" y="3521991"/>
            <a:ext cx="3537364" cy="476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00"/>
              </a:lnSpc>
            </a:pPr>
            <a:r>
              <a:rPr lang="en-US" sz="3000" spc="147">
                <a:solidFill>
                  <a:srgbClr val="290606"/>
                </a:solidFill>
                <a:latin typeface="Cheddar"/>
                <a:ea typeface="Cheddar"/>
                <a:cs typeface="Cheddar"/>
                <a:sym typeface="Cheddar"/>
              </a:rPr>
              <a:t>END YEAR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EF4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2734677"/>
            <a:ext cx="7983295" cy="2599295"/>
            <a:chOff x="0" y="0"/>
            <a:chExt cx="2102596" cy="68458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02596" cy="684588"/>
            </a:xfrm>
            <a:custGeom>
              <a:avLst/>
              <a:gdLst/>
              <a:ahLst/>
              <a:cxnLst/>
              <a:rect r="r" b="b" t="t" l="l"/>
              <a:pathLst>
                <a:path h="684588" w="2102596">
                  <a:moveTo>
                    <a:pt x="49458" y="0"/>
                  </a:moveTo>
                  <a:lnTo>
                    <a:pt x="2053138" y="0"/>
                  </a:lnTo>
                  <a:cubicBezTo>
                    <a:pt x="2066255" y="0"/>
                    <a:pt x="2078835" y="5211"/>
                    <a:pt x="2088110" y="14486"/>
                  </a:cubicBezTo>
                  <a:cubicBezTo>
                    <a:pt x="2097386" y="23761"/>
                    <a:pt x="2102596" y="36341"/>
                    <a:pt x="2102596" y="49458"/>
                  </a:cubicBezTo>
                  <a:lnTo>
                    <a:pt x="2102596" y="635130"/>
                  </a:lnTo>
                  <a:cubicBezTo>
                    <a:pt x="2102596" y="648247"/>
                    <a:pt x="2097386" y="660827"/>
                    <a:pt x="2088110" y="670102"/>
                  </a:cubicBezTo>
                  <a:cubicBezTo>
                    <a:pt x="2078835" y="679377"/>
                    <a:pt x="2066255" y="684588"/>
                    <a:pt x="2053138" y="684588"/>
                  </a:cubicBezTo>
                  <a:lnTo>
                    <a:pt x="49458" y="684588"/>
                  </a:lnTo>
                  <a:cubicBezTo>
                    <a:pt x="36341" y="684588"/>
                    <a:pt x="23761" y="679377"/>
                    <a:pt x="14486" y="670102"/>
                  </a:cubicBezTo>
                  <a:cubicBezTo>
                    <a:pt x="5211" y="660827"/>
                    <a:pt x="0" y="648247"/>
                    <a:pt x="0" y="635130"/>
                  </a:cubicBezTo>
                  <a:lnTo>
                    <a:pt x="0" y="49458"/>
                  </a:lnTo>
                  <a:cubicBezTo>
                    <a:pt x="0" y="36341"/>
                    <a:pt x="5211" y="23761"/>
                    <a:pt x="14486" y="14486"/>
                  </a:cubicBezTo>
                  <a:cubicBezTo>
                    <a:pt x="23761" y="5211"/>
                    <a:pt x="36341" y="0"/>
                    <a:pt x="49458" y="0"/>
                  </a:cubicBezTo>
                  <a:close/>
                </a:path>
              </a:pathLst>
            </a:custGeom>
            <a:solidFill>
              <a:srgbClr val="02B676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66675"/>
              <a:ext cx="2102596" cy="75126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9800573" y="2241465"/>
            <a:ext cx="7983295" cy="3585720"/>
            <a:chOff x="0" y="0"/>
            <a:chExt cx="2102596" cy="944387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02596" cy="944387"/>
            </a:xfrm>
            <a:custGeom>
              <a:avLst/>
              <a:gdLst/>
              <a:ahLst/>
              <a:cxnLst/>
              <a:rect r="r" b="b" t="t" l="l"/>
              <a:pathLst>
                <a:path h="944387" w="2102596">
                  <a:moveTo>
                    <a:pt x="49458" y="0"/>
                  </a:moveTo>
                  <a:lnTo>
                    <a:pt x="2053138" y="0"/>
                  </a:lnTo>
                  <a:cubicBezTo>
                    <a:pt x="2066255" y="0"/>
                    <a:pt x="2078835" y="5211"/>
                    <a:pt x="2088110" y="14486"/>
                  </a:cubicBezTo>
                  <a:cubicBezTo>
                    <a:pt x="2097386" y="23761"/>
                    <a:pt x="2102596" y="36341"/>
                    <a:pt x="2102596" y="49458"/>
                  </a:cubicBezTo>
                  <a:lnTo>
                    <a:pt x="2102596" y="894929"/>
                  </a:lnTo>
                  <a:cubicBezTo>
                    <a:pt x="2102596" y="908046"/>
                    <a:pt x="2097386" y="920626"/>
                    <a:pt x="2088110" y="929901"/>
                  </a:cubicBezTo>
                  <a:cubicBezTo>
                    <a:pt x="2078835" y="939176"/>
                    <a:pt x="2066255" y="944387"/>
                    <a:pt x="2053138" y="944387"/>
                  </a:cubicBezTo>
                  <a:lnTo>
                    <a:pt x="49458" y="944387"/>
                  </a:lnTo>
                  <a:cubicBezTo>
                    <a:pt x="36341" y="944387"/>
                    <a:pt x="23761" y="939176"/>
                    <a:pt x="14486" y="929901"/>
                  </a:cubicBezTo>
                  <a:cubicBezTo>
                    <a:pt x="5211" y="920626"/>
                    <a:pt x="0" y="908046"/>
                    <a:pt x="0" y="894929"/>
                  </a:cubicBezTo>
                  <a:lnTo>
                    <a:pt x="0" y="49458"/>
                  </a:lnTo>
                  <a:cubicBezTo>
                    <a:pt x="0" y="36341"/>
                    <a:pt x="5211" y="23761"/>
                    <a:pt x="14486" y="14486"/>
                  </a:cubicBezTo>
                  <a:cubicBezTo>
                    <a:pt x="23761" y="5211"/>
                    <a:pt x="36341" y="0"/>
                    <a:pt x="49458" y="0"/>
                  </a:cubicBezTo>
                  <a:close/>
                </a:path>
              </a:pathLst>
            </a:custGeom>
            <a:solidFill>
              <a:srgbClr val="02B676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66675"/>
              <a:ext cx="2102596" cy="101106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2719192" y="6227234"/>
            <a:ext cx="13455604" cy="3585720"/>
            <a:chOff x="0" y="0"/>
            <a:chExt cx="3543863" cy="944387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3543863" cy="944387"/>
            </a:xfrm>
            <a:custGeom>
              <a:avLst/>
              <a:gdLst/>
              <a:ahLst/>
              <a:cxnLst/>
              <a:rect r="r" b="b" t="t" l="l"/>
              <a:pathLst>
                <a:path h="944387" w="3543863">
                  <a:moveTo>
                    <a:pt x="29344" y="0"/>
                  </a:moveTo>
                  <a:lnTo>
                    <a:pt x="3514519" y="0"/>
                  </a:lnTo>
                  <a:cubicBezTo>
                    <a:pt x="3530725" y="0"/>
                    <a:pt x="3543863" y="13138"/>
                    <a:pt x="3543863" y="29344"/>
                  </a:cubicBezTo>
                  <a:lnTo>
                    <a:pt x="3543863" y="915043"/>
                  </a:lnTo>
                  <a:cubicBezTo>
                    <a:pt x="3543863" y="922826"/>
                    <a:pt x="3540771" y="930290"/>
                    <a:pt x="3535268" y="935792"/>
                  </a:cubicBezTo>
                  <a:cubicBezTo>
                    <a:pt x="3529765" y="941296"/>
                    <a:pt x="3522301" y="944387"/>
                    <a:pt x="3514519" y="944387"/>
                  </a:cubicBezTo>
                  <a:lnTo>
                    <a:pt x="29344" y="944387"/>
                  </a:lnTo>
                  <a:cubicBezTo>
                    <a:pt x="13138" y="944387"/>
                    <a:pt x="0" y="931249"/>
                    <a:pt x="0" y="915043"/>
                  </a:cubicBezTo>
                  <a:lnTo>
                    <a:pt x="0" y="29344"/>
                  </a:lnTo>
                  <a:cubicBezTo>
                    <a:pt x="0" y="13138"/>
                    <a:pt x="13138" y="0"/>
                    <a:pt x="29344" y="0"/>
                  </a:cubicBezTo>
                  <a:close/>
                </a:path>
              </a:pathLst>
            </a:custGeom>
            <a:solidFill>
              <a:srgbClr val="02B676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66675"/>
              <a:ext cx="3543863" cy="101106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1028700" y="1019175"/>
            <a:ext cx="8115300" cy="1073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99"/>
              </a:lnSpc>
            </a:pPr>
            <a:r>
              <a:rPr lang="en-US" sz="6999" spc="342">
                <a:solidFill>
                  <a:srgbClr val="290606"/>
                </a:solidFill>
                <a:latin typeface="Cheddar"/>
                <a:ea typeface="Cheddar"/>
                <a:cs typeface="Cheddar"/>
                <a:sym typeface="Cheddar"/>
              </a:rPr>
              <a:t>DATASET OVERVIEW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157875" y="2848806"/>
            <a:ext cx="7854121" cy="20967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60"/>
              </a:lnSpc>
            </a:pPr>
            <a:r>
              <a:rPr lang="en-US" sz="2600" b="true">
                <a:solidFill>
                  <a:srgbClr val="FEC801"/>
                </a:solidFill>
                <a:latin typeface="Telegraf Medium"/>
                <a:ea typeface="Telegraf Medium"/>
                <a:cs typeface="Telegraf Medium"/>
                <a:sym typeface="Telegraf Medium"/>
              </a:rPr>
              <a:t>Source</a:t>
            </a:r>
          </a:p>
          <a:p>
            <a:pPr algn="l" marL="561341" indent="-280670" lvl="1">
              <a:lnSpc>
                <a:spcPts val="4160"/>
              </a:lnSpc>
              <a:buFont typeface="Arial"/>
              <a:buChar char="•"/>
            </a:pPr>
            <a:r>
              <a:rPr lang="en-US" b="true" sz="2600">
                <a:solidFill>
                  <a:srgbClr val="290606"/>
                </a:solidFill>
                <a:latin typeface="Telegraf Medium"/>
                <a:ea typeface="Telegraf Medium"/>
                <a:cs typeface="Telegraf Medium"/>
                <a:sym typeface="Telegraf Medium"/>
              </a:rPr>
              <a:t>Y</a:t>
            </a:r>
            <a:r>
              <a:rPr lang="en-US" b="true" sz="2600">
                <a:solidFill>
                  <a:srgbClr val="290606"/>
                </a:solidFill>
                <a:latin typeface="Telegraf Medium"/>
                <a:ea typeface="Telegraf Medium"/>
                <a:cs typeface="Telegraf Medium"/>
                <a:sym typeface="Telegraf Medium"/>
              </a:rPr>
              <a:t>ahoo Finance — Gold Futures GC=F</a:t>
            </a:r>
          </a:p>
          <a:p>
            <a:pPr algn="l" marL="561341" indent="-280670" lvl="1">
              <a:lnSpc>
                <a:spcPts val="4160"/>
              </a:lnSpc>
              <a:buFont typeface="Arial"/>
              <a:buChar char="•"/>
            </a:pPr>
            <a:r>
              <a:rPr lang="en-US" b="true" sz="2600">
                <a:solidFill>
                  <a:srgbClr val="290606"/>
                </a:solidFill>
                <a:latin typeface="Telegraf Medium"/>
                <a:ea typeface="Telegraf Medium"/>
                <a:cs typeface="Telegraf Medium"/>
                <a:sym typeface="Telegraf Medium"/>
              </a:rPr>
              <a:t> Retrieved automatically via yfinance library</a:t>
            </a:r>
          </a:p>
          <a:p>
            <a:pPr algn="l" marL="561341" indent="-280670" lvl="1">
              <a:lnSpc>
                <a:spcPts val="4160"/>
              </a:lnSpc>
              <a:buFont typeface="Arial"/>
              <a:buChar char="•"/>
            </a:pPr>
            <a:r>
              <a:rPr lang="en-US" b="true" sz="2600">
                <a:solidFill>
                  <a:srgbClr val="290606"/>
                </a:solidFill>
                <a:latin typeface="Telegraf Medium"/>
                <a:ea typeface="Telegraf Medium"/>
                <a:cs typeface="Telegraf Medium"/>
                <a:sym typeface="Telegraf Medium"/>
              </a:rPr>
              <a:t> Date range: 1 Jan 2022 → 18 Mar 2026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9929748" y="2355593"/>
            <a:ext cx="7854121" cy="31445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60"/>
              </a:lnSpc>
            </a:pPr>
            <a:r>
              <a:rPr lang="en-US" sz="2600" b="true">
                <a:solidFill>
                  <a:srgbClr val="FEC801"/>
                </a:solidFill>
                <a:latin typeface="Telegraf Medium"/>
                <a:ea typeface="Telegraf Medium"/>
                <a:cs typeface="Telegraf Medium"/>
                <a:sym typeface="Telegraf Medium"/>
              </a:rPr>
              <a:t>Variables</a:t>
            </a:r>
          </a:p>
          <a:p>
            <a:pPr algn="l" marL="561341" indent="-280670" lvl="1">
              <a:lnSpc>
                <a:spcPts val="4160"/>
              </a:lnSpc>
              <a:buFont typeface="Arial"/>
              <a:buChar char="•"/>
            </a:pPr>
            <a:r>
              <a:rPr lang="en-US" b="true" sz="2600">
                <a:solidFill>
                  <a:srgbClr val="290606"/>
                </a:solidFill>
                <a:latin typeface="Telegraf Medium"/>
                <a:ea typeface="Telegraf Medium"/>
                <a:cs typeface="Telegraf Medium"/>
                <a:sym typeface="Telegraf Medium"/>
              </a:rPr>
              <a:t>Open</a:t>
            </a:r>
            <a:r>
              <a:rPr lang="en-US" b="true" sz="2600">
                <a:solidFill>
                  <a:srgbClr val="290606"/>
                </a:solidFill>
                <a:latin typeface="Telegraf Medium"/>
                <a:ea typeface="Telegraf Medium"/>
                <a:cs typeface="Telegraf Medium"/>
                <a:sym typeface="Telegraf Medium"/>
              </a:rPr>
              <a:t> — Opening price</a:t>
            </a:r>
          </a:p>
          <a:p>
            <a:pPr algn="l" marL="561341" indent="-280670" lvl="1">
              <a:lnSpc>
                <a:spcPts val="4160"/>
              </a:lnSpc>
              <a:buFont typeface="Arial"/>
              <a:buChar char="•"/>
            </a:pPr>
            <a:r>
              <a:rPr lang="en-US" b="true" sz="2600">
                <a:solidFill>
                  <a:srgbClr val="290606"/>
                </a:solidFill>
                <a:latin typeface="Telegraf Medium"/>
                <a:ea typeface="Telegraf Medium"/>
                <a:cs typeface="Telegraf Medium"/>
                <a:sym typeface="Telegraf Medium"/>
              </a:rPr>
              <a:t>High — Daily high</a:t>
            </a:r>
          </a:p>
          <a:p>
            <a:pPr algn="l" marL="561341" indent="-280670" lvl="1">
              <a:lnSpc>
                <a:spcPts val="4160"/>
              </a:lnSpc>
              <a:buFont typeface="Arial"/>
              <a:buChar char="•"/>
            </a:pPr>
            <a:r>
              <a:rPr lang="en-US" b="true" sz="2600">
                <a:solidFill>
                  <a:srgbClr val="290606"/>
                </a:solidFill>
                <a:latin typeface="Telegraf Medium"/>
                <a:ea typeface="Telegraf Medium"/>
                <a:cs typeface="Telegraf Medium"/>
                <a:sym typeface="Telegraf Medium"/>
              </a:rPr>
              <a:t>Low — Daily low</a:t>
            </a:r>
          </a:p>
          <a:p>
            <a:pPr algn="l" marL="561341" indent="-280670" lvl="1">
              <a:lnSpc>
                <a:spcPts val="4160"/>
              </a:lnSpc>
              <a:buFont typeface="Arial"/>
              <a:buChar char="•"/>
            </a:pPr>
            <a:r>
              <a:rPr lang="en-US" b="true" sz="2600">
                <a:solidFill>
                  <a:srgbClr val="290606"/>
                </a:solidFill>
                <a:latin typeface="Telegraf Medium"/>
                <a:ea typeface="Telegraf Medium"/>
                <a:cs typeface="Telegraf Medium"/>
                <a:sym typeface="Telegraf Medium"/>
              </a:rPr>
              <a:t>Close — Closing price (target)</a:t>
            </a:r>
          </a:p>
          <a:p>
            <a:pPr algn="l" marL="561341" indent="-280670" lvl="1">
              <a:lnSpc>
                <a:spcPts val="4160"/>
              </a:lnSpc>
              <a:buFont typeface="Arial"/>
              <a:buChar char="•"/>
            </a:pPr>
            <a:r>
              <a:rPr lang="en-US" b="true" sz="2600">
                <a:solidFill>
                  <a:srgbClr val="290606"/>
                </a:solidFill>
                <a:latin typeface="Telegraf Medium"/>
                <a:ea typeface="Telegraf Medium"/>
                <a:cs typeface="Telegraf Medium"/>
                <a:sym typeface="Telegraf Medium"/>
              </a:rPr>
              <a:t>Volume — Trading volume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2848367" y="6341363"/>
            <a:ext cx="7854121" cy="20967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60"/>
              </a:lnSpc>
            </a:pPr>
            <a:r>
              <a:rPr lang="en-US" sz="2600" b="true">
                <a:solidFill>
                  <a:srgbClr val="FEC801"/>
                </a:solidFill>
                <a:latin typeface="Telegraf Medium"/>
                <a:ea typeface="Telegraf Medium"/>
                <a:cs typeface="Telegraf Medium"/>
                <a:sym typeface="Telegraf Medium"/>
              </a:rPr>
              <a:t>Train / Test Split</a:t>
            </a:r>
          </a:p>
          <a:p>
            <a:pPr algn="l" marL="561341" indent="-280670" lvl="1">
              <a:lnSpc>
                <a:spcPts val="4160"/>
              </a:lnSpc>
              <a:buFont typeface="Arial"/>
              <a:buChar char="•"/>
            </a:pPr>
            <a:r>
              <a:rPr lang="en-US" b="true" sz="2600">
                <a:solidFill>
                  <a:srgbClr val="290606"/>
                </a:solidFill>
                <a:latin typeface="Telegraf Medium"/>
                <a:ea typeface="Telegraf Medium"/>
                <a:cs typeface="Telegraf Medium"/>
                <a:sym typeface="Telegraf Medium"/>
              </a:rPr>
              <a:t>Train:</a:t>
            </a:r>
            <a:r>
              <a:rPr lang="en-US" b="true" sz="2600">
                <a:solidFill>
                  <a:srgbClr val="290606"/>
                </a:solidFill>
                <a:latin typeface="Telegraf Medium"/>
                <a:ea typeface="Telegraf Medium"/>
                <a:cs typeface="Telegraf Medium"/>
                <a:sym typeface="Telegraf Medium"/>
              </a:rPr>
              <a:t> 1 Jan 2022 – 15 Feb 2026 (1,507 days)</a:t>
            </a:r>
          </a:p>
          <a:p>
            <a:pPr algn="l" marL="561341" indent="-280670" lvl="1">
              <a:lnSpc>
                <a:spcPts val="4160"/>
              </a:lnSpc>
              <a:buFont typeface="Arial"/>
              <a:buChar char="•"/>
            </a:pPr>
            <a:r>
              <a:rPr lang="en-US" b="true" sz="2600">
                <a:solidFill>
                  <a:srgbClr val="290606"/>
                </a:solidFill>
                <a:latin typeface="Telegraf Medium"/>
                <a:ea typeface="Telegraf Medium"/>
                <a:cs typeface="Telegraf Medium"/>
                <a:sym typeface="Telegraf Medium"/>
              </a:rPr>
              <a:t>Test: 16 Feb 2026 – 18 Mar 2026 (31 days)</a:t>
            </a:r>
          </a:p>
          <a:p>
            <a:pPr algn="l" marL="561341" indent="-280670" lvl="1">
              <a:lnSpc>
                <a:spcPts val="4160"/>
              </a:lnSpc>
              <a:buFont typeface="Arial"/>
              <a:buChar char="•"/>
            </a:pPr>
            <a:r>
              <a:rPr lang="en-US" b="true" sz="2600">
                <a:solidFill>
                  <a:srgbClr val="290606"/>
                </a:solidFill>
                <a:latin typeface="Telegraf Medium"/>
                <a:ea typeface="Telegraf Medium"/>
                <a:cs typeface="Telegraf Medium"/>
                <a:sym typeface="Telegraf Medium"/>
              </a:rPr>
              <a:t>Time-based split — no data leakage</a:t>
            </a:r>
          </a:p>
        </p:txBody>
      </p:sp>
      <p:pic>
        <p:nvPicPr>
          <p:cNvPr name="Picture 15" id="15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2832019" y="7511182"/>
            <a:ext cx="13229950" cy="2425491"/>
          </a:xfrm>
          <a:prstGeom prst="rect">
            <a:avLst/>
          </a:prstGeom>
        </p:spPr>
      </p:pic>
      <p:sp>
        <p:nvSpPr>
          <p:cNvPr name="TextBox 16" id="16"/>
          <p:cNvSpPr txBox="true"/>
          <p:nvPr/>
        </p:nvSpPr>
        <p:spPr>
          <a:xfrm rot="0">
            <a:off x="3300384" y="8881802"/>
            <a:ext cx="1978313" cy="4876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40"/>
              </a:lnSpc>
            </a:pPr>
            <a:r>
              <a:rPr lang="en-US" sz="2400" b="true">
                <a:solidFill>
                  <a:srgbClr val="FEC801"/>
                </a:solidFill>
                <a:latin typeface="Telegraf Medium"/>
                <a:ea typeface="Telegraf Medium"/>
                <a:cs typeface="Telegraf Medium"/>
                <a:sym typeface="Telegraf Medium"/>
              </a:rPr>
              <a:t>1 Jan 2022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4008593" y="8881802"/>
            <a:ext cx="2166203" cy="4876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40"/>
              </a:lnSpc>
            </a:pPr>
            <a:r>
              <a:rPr lang="en-US" sz="2400" b="true">
                <a:solidFill>
                  <a:srgbClr val="FEC801"/>
                </a:solidFill>
                <a:latin typeface="Telegraf Medium"/>
                <a:ea typeface="Telegraf Medium"/>
                <a:cs typeface="Telegraf Medium"/>
                <a:sym typeface="Telegraf Medium"/>
              </a:rPr>
              <a:t>18 Mar 2022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EF4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609638" y="1757320"/>
            <a:ext cx="15068724" cy="6455926"/>
          </a:xfrm>
          <a:custGeom>
            <a:avLst/>
            <a:gdLst/>
            <a:ahLst/>
            <a:cxnLst/>
            <a:rect r="r" b="b" t="t" l="l"/>
            <a:pathLst>
              <a:path h="6455926" w="15068724">
                <a:moveTo>
                  <a:pt x="0" y="0"/>
                </a:moveTo>
                <a:lnTo>
                  <a:pt x="15068724" y="0"/>
                </a:lnTo>
                <a:lnTo>
                  <a:pt x="15068724" y="6455926"/>
                </a:lnTo>
                <a:lnTo>
                  <a:pt x="0" y="645592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-511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887782" y="487363"/>
            <a:ext cx="11755677" cy="1073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99"/>
              </a:lnSpc>
            </a:pPr>
            <a:r>
              <a:rPr lang="en-US" sz="6999" spc="342">
                <a:solidFill>
                  <a:srgbClr val="290606"/>
                </a:solidFill>
                <a:latin typeface="Cheddar"/>
                <a:ea typeface="Cheddar"/>
                <a:cs typeface="Cheddar"/>
                <a:sym typeface="Cheddar"/>
              </a:rPr>
              <a:t>DATA SPLITTING &amp; VISUALISATION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638108" y="8569382"/>
            <a:ext cx="14772946" cy="5581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00"/>
              </a:lnSpc>
            </a:pPr>
            <a:r>
              <a:rPr lang="en-US" sz="2100" spc="102">
                <a:solidFill>
                  <a:srgbClr val="290606"/>
                </a:solidFill>
                <a:latin typeface="DM Sans"/>
                <a:ea typeface="DM Sans"/>
                <a:cs typeface="DM Sans"/>
                <a:sym typeface="DM Sans"/>
              </a:rPr>
              <a:t>Gold price variation over time: training period (blue) and test period (cyan). Noticeable volatility increase in recent years.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>
  <p:cSld>
    <p:bg>
      <p:bgPr>
        <a:solidFill>
          <a:srgbClr val="EEF4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480852" y="2751166"/>
            <a:ext cx="7572285" cy="2669754"/>
            <a:chOff x="0" y="0"/>
            <a:chExt cx="1994347" cy="70314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994347" cy="703145"/>
            </a:xfrm>
            <a:custGeom>
              <a:avLst/>
              <a:gdLst/>
              <a:ahLst/>
              <a:cxnLst/>
              <a:rect r="r" b="b" t="t" l="l"/>
              <a:pathLst>
                <a:path h="703145" w="1994347">
                  <a:moveTo>
                    <a:pt x="52143" y="0"/>
                  </a:moveTo>
                  <a:lnTo>
                    <a:pt x="1942204" y="0"/>
                  </a:lnTo>
                  <a:cubicBezTo>
                    <a:pt x="1971002" y="0"/>
                    <a:pt x="1994347" y="23345"/>
                    <a:pt x="1994347" y="52143"/>
                  </a:cubicBezTo>
                  <a:lnTo>
                    <a:pt x="1994347" y="651003"/>
                  </a:lnTo>
                  <a:cubicBezTo>
                    <a:pt x="1994347" y="679800"/>
                    <a:pt x="1971002" y="703145"/>
                    <a:pt x="1942204" y="703145"/>
                  </a:cubicBezTo>
                  <a:lnTo>
                    <a:pt x="52143" y="703145"/>
                  </a:lnTo>
                  <a:cubicBezTo>
                    <a:pt x="23345" y="703145"/>
                    <a:pt x="0" y="679800"/>
                    <a:pt x="0" y="651003"/>
                  </a:cubicBezTo>
                  <a:lnTo>
                    <a:pt x="0" y="52143"/>
                  </a:lnTo>
                  <a:cubicBezTo>
                    <a:pt x="0" y="23345"/>
                    <a:pt x="23345" y="0"/>
                    <a:pt x="52143" y="0"/>
                  </a:cubicBezTo>
                  <a:close/>
                </a:path>
              </a:pathLst>
            </a:custGeom>
            <a:solidFill>
              <a:srgbClr val="02B676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66675"/>
              <a:ext cx="1994347" cy="76982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-771207" y="2591509"/>
            <a:ext cx="11057462" cy="3862830"/>
            <a:chOff x="0" y="0"/>
            <a:chExt cx="2912253" cy="1017371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912253" cy="1017371"/>
            </a:xfrm>
            <a:custGeom>
              <a:avLst/>
              <a:gdLst/>
              <a:ahLst/>
              <a:cxnLst/>
              <a:rect r="r" b="b" t="t" l="l"/>
              <a:pathLst>
                <a:path h="1017371" w="2912253">
                  <a:moveTo>
                    <a:pt x="35708" y="0"/>
                  </a:moveTo>
                  <a:lnTo>
                    <a:pt x="2876546" y="0"/>
                  </a:lnTo>
                  <a:cubicBezTo>
                    <a:pt x="2886016" y="0"/>
                    <a:pt x="2895098" y="3762"/>
                    <a:pt x="2901795" y="10459"/>
                  </a:cubicBezTo>
                  <a:cubicBezTo>
                    <a:pt x="2908491" y="17155"/>
                    <a:pt x="2912253" y="26238"/>
                    <a:pt x="2912253" y="35708"/>
                  </a:cubicBezTo>
                  <a:lnTo>
                    <a:pt x="2912253" y="981663"/>
                  </a:lnTo>
                  <a:cubicBezTo>
                    <a:pt x="2912253" y="1001384"/>
                    <a:pt x="2896266" y="1017371"/>
                    <a:pt x="2876546" y="1017371"/>
                  </a:cubicBezTo>
                  <a:lnTo>
                    <a:pt x="35708" y="1017371"/>
                  </a:lnTo>
                  <a:cubicBezTo>
                    <a:pt x="15987" y="1017371"/>
                    <a:pt x="0" y="1001384"/>
                    <a:pt x="0" y="981663"/>
                  </a:cubicBezTo>
                  <a:lnTo>
                    <a:pt x="0" y="35708"/>
                  </a:lnTo>
                  <a:cubicBezTo>
                    <a:pt x="0" y="15987"/>
                    <a:pt x="15987" y="0"/>
                    <a:pt x="35708" y="0"/>
                  </a:cubicBezTo>
                  <a:close/>
                </a:path>
              </a:pathLst>
            </a:custGeom>
            <a:solidFill>
              <a:srgbClr val="02B676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66675"/>
              <a:ext cx="2912253" cy="108404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950768" y="408531"/>
            <a:ext cx="8927786" cy="1958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99"/>
              </a:lnSpc>
            </a:pPr>
            <a:r>
              <a:rPr lang="en-US" sz="6999" spc="342">
                <a:solidFill>
                  <a:srgbClr val="290606"/>
                </a:solidFill>
                <a:latin typeface="Cheddar"/>
                <a:ea typeface="Cheddar"/>
                <a:cs typeface="Cheddar"/>
                <a:sym typeface="Cheddar"/>
              </a:rPr>
              <a:t>FEATURE ENGINEERING &amp; PRE-PROCESSING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783491" y="2608291"/>
            <a:ext cx="8558710" cy="33724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79"/>
              </a:lnSpc>
            </a:pPr>
            <a:r>
              <a:rPr lang="en-US" sz="2799" b="true">
                <a:solidFill>
                  <a:srgbClr val="FEC801"/>
                </a:solidFill>
                <a:latin typeface="Telegraf Medium"/>
                <a:ea typeface="Telegraf Medium"/>
                <a:cs typeface="Telegraf Medium"/>
                <a:sym typeface="Telegraf Medium"/>
              </a:rPr>
              <a:t>Pre-processing Steps</a:t>
            </a:r>
          </a:p>
          <a:p>
            <a:pPr algn="l" marL="604519" indent="-302260" lvl="1">
              <a:lnSpc>
                <a:spcPts val="4479"/>
              </a:lnSpc>
              <a:buFont typeface="Arial"/>
              <a:buChar char="•"/>
            </a:pPr>
            <a:r>
              <a:rPr lang="en-US" b="true" sz="2799">
                <a:solidFill>
                  <a:srgbClr val="290606"/>
                </a:solidFill>
                <a:latin typeface="Telegraf Medium"/>
                <a:ea typeface="Telegraf Medium"/>
                <a:cs typeface="Telegraf Medium"/>
                <a:sym typeface="Telegraf Medium"/>
              </a:rPr>
              <a:t>Daily frequency resampling (asfreq('D'))</a:t>
            </a:r>
          </a:p>
          <a:p>
            <a:pPr algn="l" marL="604519" indent="-302260" lvl="1">
              <a:lnSpc>
                <a:spcPts val="4479"/>
              </a:lnSpc>
              <a:buFont typeface="Arial"/>
              <a:buChar char="•"/>
            </a:pPr>
            <a:r>
              <a:rPr lang="en-US" b="true" sz="2799">
                <a:solidFill>
                  <a:srgbClr val="290606"/>
                </a:solidFill>
                <a:latin typeface="Telegraf Medium"/>
                <a:ea typeface="Telegraf Medium"/>
                <a:cs typeface="Telegraf Medium"/>
                <a:sym typeface="Telegraf Medium"/>
              </a:rPr>
              <a:t>Forward-fill missing values (ffill)</a:t>
            </a:r>
          </a:p>
          <a:p>
            <a:pPr algn="l" marL="604519" indent="-302260" lvl="1">
              <a:lnSpc>
                <a:spcPts val="4479"/>
              </a:lnSpc>
              <a:buFont typeface="Arial"/>
              <a:buChar char="•"/>
            </a:pPr>
            <a:r>
              <a:rPr lang="en-US" b="true" sz="2799">
                <a:solidFill>
                  <a:srgbClr val="290606"/>
                </a:solidFill>
                <a:latin typeface="Telegraf Medium"/>
                <a:ea typeface="Telegraf Medium"/>
                <a:cs typeface="Telegraf Medium"/>
                <a:sym typeface="Telegraf Medium"/>
              </a:rPr>
              <a:t>Min-Max scaling for LSTM Close price series</a:t>
            </a:r>
          </a:p>
          <a:p>
            <a:pPr algn="l" marL="604519" indent="-302260" lvl="1">
              <a:lnSpc>
                <a:spcPts val="4479"/>
              </a:lnSpc>
              <a:buFont typeface="Arial"/>
              <a:buChar char="•"/>
            </a:pPr>
            <a:r>
              <a:rPr lang="en-US" b="true" sz="2799">
                <a:solidFill>
                  <a:srgbClr val="290606"/>
                </a:solidFill>
                <a:latin typeface="Telegraf Medium"/>
                <a:ea typeface="Telegraf Medium"/>
                <a:cs typeface="Telegraf Medium"/>
                <a:sym typeface="Telegraf Medium"/>
              </a:rPr>
              <a:t>60-day lookback window for LSTM sequences</a:t>
            </a:r>
          </a:p>
          <a:p>
            <a:pPr algn="l" marL="604519" indent="-302260" lvl="1">
              <a:lnSpc>
                <a:spcPts val="4479"/>
              </a:lnSpc>
              <a:buFont typeface="Arial"/>
              <a:buChar char="•"/>
            </a:pPr>
            <a:r>
              <a:rPr lang="en-US" b="true" sz="2799">
                <a:solidFill>
                  <a:srgbClr val="290606"/>
                </a:solidFill>
                <a:latin typeface="Telegraf Medium"/>
                <a:ea typeface="Telegraf Medium"/>
                <a:cs typeface="Telegraf Medium"/>
                <a:sym typeface="Telegraf Medium"/>
              </a:rPr>
              <a:t>Time-based train/test split (no random shuffle)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610027" y="2924541"/>
            <a:ext cx="7313936" cy="20967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60"/>
              </a:lnSpc>
            </a:pPr>
            <a:r>
              <a:rPr lang="en-US" sz="2600" b="true">
                <a:solidFill>
                  <a:srgbClr val="FEC801"/>
                </a:solidFill>
                <a:latin typeface="Telegraf Medium"/>
                <a:ea typeface="Telegraf Medium"/>
                <a:cs typeface="Telegraf Medium"/>
                <a:sym typeface="Telegraf Medium"/>
              </a:rPr>
              <a:t>Target Variable</a:t>
            </a:r>
          </a:p>
          <a:p>
            <a:pPr algn="l">
              <a:lnSpc>
                <a:spcPts val="4160"/>
              </a:lnSpc>
            </a:pPr>
            <a:r>
              <a:rPr lang="en-US" sz="2600" b="true">
                <a:solidFill>
                  <a:srgbClr val="290606"/>
                </a:solidFill>
                <a:latin typeface="Telegraf Medium"/>
                <a:ea typeface="Telegraf Medium"/>
                <a:cs typeface="Telegraf Medium"/>
                <a:sym typeface="Telegraf Medium"/>
              </a:rPr>
              <a:t>Daily variation in Close price </a:t>
            </a:r>
            <a:r>
              <a:rPr lang="en-US" sz="2600" b="true">
                <a:solidFill>
                  <a:srgbClr val="FEC801"/>
                </a:solidFill>
                <a:latin typeface="Telegraf Medium"/>
                <a:ea typeface="Telegraf Medium"/>
                <a:cs typeface="Telegraf Medium"/>
                <a:sym typeface="Telegraf Medium"/>
              </a:rPr>
              <a:t>(var_Close = Close</a:t>
            </a:r>
            <a:r>
              <a:rPr lang="en-US" sz="2600" b="true">
                <a:solidFill>
                  <a:srgbClr val="FEC801"/>
                </a:solidFill>
                <a:latin typeface="Telegraf Medium"/>
                <a:ea typeface="Telegraf Medium"/>
                <a:cs typeface="Telegraf Medium"/>
                <a:sym typeface="Telegraf Medium"/>
              </a:rPr>
              <a:t>t</a:t>
            </a:r>
            <a:r>
              <a:rPr lang="en-US" sz="2600" b="true">
                <a:solidFill>
                  <a:srgbClr val="FEC801"/>
                </a:solidFill>
                <a:latin typeface="Telegraf Medium"/>
                <a:ea typeface="Telegraf Medium"/>
                <a:cs typeface="Telegraf Medium"/>
                <a:sym typeface="Telegraf Medium"/>
              </a:rPr>
              <a:t> − Close</a:t>
            </a:r>
            <a:r>
              <a:rPr lang="en-US" sz="2600" b="true">
                <a:solidFill>
                  <a:srgbClr val="FEC801"/>
                </a:solidFill>
                <a:latin typeface="Telegraf Medium"/>
                <a:ea typeface="Telegraf Medium"/>
                <a:cs typeface="Telegraf Medium"/>
                <a:sym typeface="Telegraf Medium"/>
              </a:rPr>
              <a:t>t−1</a:t>
            </a:r>
            <a:r>
              <a:rPr lang="en-US" sz="2600" b="true">
                <a:solidFill>
                  <a:srgbClr val="FEC801"/>
                </a:solidFill>
                <a:latin typeface="Telegraf Medium"/>
                <a:ea typeface="Telegraf Medium"/>
                <a:cs typeface="Telegraf Medium"/>
                <a:sym typeface="Telegraf Medium"/>
              </a:rPr>
              <a:t>)</a:t>
            </a:r>
            <a:r>
              <a:rPr lang="en-US" sz="2600" b="true">
                <a:solidFill>
                  <a:srgbClr val="290606"/>
                </a:solidFill>
                <a:latin typeface="Telegraf Medium"/>
                <a:ea typeface="Telegraf Medium"/>
                <a:cs typeface="Telegraf Medium"/>
                <a:sym typeface="Telegraf Medium"/>
              </a:rPr>
              <a:t> Predicting change rather than absolute price reduces non-stationarity.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5062846" y="6682939"/>
            <a:ext cx="10719450" cy="2906188"/>
            <a:chOff x="0" y="0"/>
            <a:chExt cx="2823230" cy="765416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823230" cy="765416"/>
            </a:xfrm>
            <a:custGeom>
              <a:avLst/>
              <a:gdLst/>
              <a:ahLst/>
              <a:cxnLst/>
              <a:rect r="r" b="b" t="t" l="l"/>
              <a:pathLst>
                <a:path h="765416" w="2823230">
                  <a:moveTo>
                    <a:pt x="36834" y="0"/>
                  </a:moveTo>
                  <a:lnTo>
                    <a:pt x="2786396" y="0"/>
                  </a:lnTo>
                  <a:cubicBezTo>
                    <a:pt x="2796165" y="0"/>
                    <a:pt x="2805534" y="3881"/>
                    <a:pt x="2812441" y="10788"/>
                  </a:cubicBezTo>
                  <a:cubicBezTo>
                    <a:pt x="2819349" y="17696"/>
                    <a:pt x="2823230" y="27065"/>
                    <a:pt x="2823230" y="36834"/>
                  </a:cubicBezTo>
                  <a:lnTo>
                    <a:pt x="2823230" y="728582"/>
                  </a:lnTo>
                  <a:cubicBezTo>
                    <a:pt x="2823230" y="738351"/>
                    <a:pt x="2819349" y="747720"/>
                    <a:pt x="2812441" y="754627"/>
                  </a:cubicBezTo>
                  <a:cubicBezTo>
                    <a:pt x="2805534" y="761535"/>
                    <a:pt x="2796165" y="765416"/>
                    <a:pt x="2786396" y="765416"/>
                  </a:cubicBezTo>
                  <a:lnTo>
                    <a:pt x="36834" y="765416"/>
                  </a:lnTo>
                  <a:cubicBezTo>
                    <a:pt x="27065" y="765416"/>
                    <a:pt x="17696" y="761535"/>
                    <a:pt x="10788" y="754627"/>
                  </a:cubicBezTo>
                  <a:cubicBezTo>
                    <a:pt x="3881" y="747720"/>
                    <a:pt x="0" y="738351"/>
                    <a:pt x="0" y="728582"/>
                  </a:cubicBezTo>
                  <a:lnTo>
                    <a:pt x="0" y="36834"/>
                  </a:lnTo>
                  <a:cubicBezTo>
                    <a:pt x="0" y="27065"/>
                    <a:pt x="3881" y="17696"/>
                    <a:pt x="10788" y="10788"/>
                  </a:cubicBezTo>
                  <a:cubicBezTo>
                    <a:pt x="17696" y="3881"/>
                    <a:pt x="27065" y="0"/>
                    <a:pt x="36834" y="0"/>
                  </a:cubicBezTo>
                  <a:close/>
                </a:path>
              </a:pathLst>
            </a:custGeom>
            <a:solidFill>
              <a:srgbClr val="02B676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66675"/>
              <a:ext cx="2823230" cy="83209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5192021" y="7020973"/>
            <a:ext cx="10284953" cy="20967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60"/>
              </a:lnSpc>
            </a:pPr>
            <a:r>
              <a:rPr lang="en-US" sz="2600" b="true">
                <a:solidFill>
                  <a:srgbClr val="FEC801"/>
                </a:solidFill>
                <a:latin typeface="Telegraf Medium"/>
                <a:ea typeface="Telegraf Medium"/>
                <a:cs typeface="Telegraf Medium"/>
                <a:sym typeface="Telegraf Medium"/>
              </a:rPr>
              <a:t>Why Variation Features?</a:t>
            </a:r>
          </a:p>
          <a:p>
            <a:pPr algn="l">
              <a:lnSpc>
                <a:spcPts val="4160"/>
              </a:lnSpc>
            </a:pPr>
            <a:r>
              <a:rPr lang="en-US" sz="2600" b="true">
                <a:solidFill>
                  <a:srgbClr val="290606"/>
                </a:solidFill>
                <a:latin typeface="Telegraf Medium"/>
                <a:ea typeface="Telegraf Medium"/>
                <a:cs typeface="Telegraf Medium"/>
                <a:sym typeface="Telegraf Medium"/>
              </a:rPr>
              <a:t>D</a:t>
            </a:r>
            <a:r>
              <a:rPr lang="en-US" sz="2600" b="true">
                <a:solidFill>
                  <a:srgbClr val="290606"/>
                </a:solidFill>
                <a:latin typeface="Telegraf Medium"/>
                <a:ea typeface="Telegraf Medium"/>
                <a:cs typeface="Telegraf Medium"/>
                <a:sym typeface="Telegraf Medium"/>
              </a:rPr>
              <a:t>ifferencing removes trend non-stationarity. The final predicted Close price is recovered as:</a:t>
            </a:r>
          </a:p>
          <a:p>
            <a:pPr algn="l">
              <a:lnSpc>
                <a:spcPts val="4160"/>
              </a:lnSpc>
            </a:pPr>
            <a:r>
              <a:rPr lang="en-US" sz="2600" b="true">
                <a:solidFill>
                  <a:srgbClr val="FEC801"/>
                </a:solidFill>
                <a:latin typeface="Telegraf Medium"/>
                <a:ea typeface="Telegraf Medium"/>
                <a:cs typeface="Telegraf Medium"/>
                <a:sym typeface="Telegraf Medium"/>
              </a:rPr>
              <a:t>Close</a:t>
            </a:r>
            <a:r>
              <a:rPr lang="en-US" sz="2600" b="true">
                <a:solidFill>
                  <a:srgbClr val="FEC801"/>
                </a:solidFill>
                <a:latin typeface="Telegraf Medium"/>
                <a:ea typeface="Telegraf Medium"/>
                <a:cs typeface="Telegraf Medium"/>
                <a:sym typeface="Telegraf Medium"/>
              </a:rPr>
              <a:t>t</a:t>
            </a:r>
            <a:r>
              <a:rPr lang="en-US" sz="2600" b="true">
                <a:solidFill>
                  <a:srgbClr val="FEC801"/>
                </a:solidFill>
                <a:latin typeface="Telegraf Medium"/>
                <a:ea typeface="Telegraf Medium"/>
                <a:cs typeface="Telegraf Medium"/>
                <a:sym typeface="Telegraf Medium"/>
              </a:rPr>
              <a:t> = Close</a:t>
            </a:r>
            <a:r>
              <a:rPr lang="en-US" sz="2600" b="true">
                <a:solidFill>
                  <a:srgbClr val="FEC801"/>
                </a:solidFill>
                <a:latin typeface="Telegraf Medium"/>
                <a:ea typeface="Telegraf Medium"/>
                <a:cs typeface="Telegraf Medium"/>
                <a:sym typeface="Telegraf Medium"/>
              </a:rPr>
              <a:t>t−1</a:t>
            </a:r>
            <a:r>
              <a:rPr lang="en-US" sz="2600" b="true">
                <a:solidFill>
                  <a:srgbClr val="FEC801"/>
                </a:solidFill>
                <a:latin typeface="Telegraf Medium"/>
                <a:ea typeface="Telegraf Medium"/>
                <a:cs typeface="Telegraf Medium"/>
                <a:sym typeface="Telegraf Medium"/>
              </a:rPr>
              <a:t> + predicted var_Close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>
  <p:cSld>
    <p:bg>
      <p:bgPr>
        <a:solidFill>
          <a:srgbClr val="EEF4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862720" y="2996222"/>
            <a:ext cx="3309223" cy="2843864"/>
            <a:chOff x="0" y="0"/>
            <a:chExt cx="812800" cy="6985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698500"/>
            </a:xfrm>
            <a:custGeom>
              <a:avLst/>
              <a:gdLst/>
              <a:ahLst/>
              <a:cxnLst/>
              <a:rect r="r" b="b" t="t" l="l"/>
              <a:pathLst>
                <a:path h="698500" w="812800">
                  <a:moveTo>
                    <a:pt x="812800" y="349250"/>
                  </a:moveTo>
                  <a:lnTo>
                    <a:pt x="609600" y="698500"/>
                  </a:lnTo>
                  <a:lnTo>
                    <a:pt x="203200" y="698500"/>
                  </a:lnTo>
                  <a:lnTo>
                    <a:pt x="0" y="349250"/>
                  </a:lnTo>
                  <a:lnTo>
                    <a:pt x="203200" y="0"/>
                  </a:lnTo>
                  <a:lnTo>
                    <a:pt x="609600" y="0"/>
                  </a:lnTo>
                  <a:lnTo>
                    <a:pt x="812800" y="349250"/>
                  </a:lnTo>
                  <a:close/>
                </a:path>
              </a:pathLst>
            </a:custGeom>
            <a:solidFill>
              <a:srgbClr val="FFC97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114300" y="0"/>
              <a:ext cx="5842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00"/>
                </a:lnSpc>
              </a:pPr>
              <a:r>
                <a:rPr lang="en-US" sz="2100" b="true">
                  <a:solidFill>
                    <a:srgbClr val="000000"/>
                  </a:solidFill>
                  <a:latin typeface="Telegraf Bold"/>
                  <a:ea typeface="Telegraf Bold"/>
                  <a:cs typeface="Telegraf Bold"/>
                  <a:sym typeface="Telegraf Bold"/>
                </a:rPr>
                <a:t>Model Training</a:t>
              </a:r>
            </a:p>
            <a:p>
              <a:pPr algn="ctr">
                <a:lnSpc>
                  <a:spcPts val="2100"/>
                </a:lnSpc>
              </a:pPr>
              <a:r>
                <a:rPr lang="en-US" b="true" sz="2100">
                  <a:solidFill>
                    <a:srgbClr val="000000"/>
                  </a:solidFill>
                  <a:latin typeface="Telegraf Bold"/>
                  <a:ea typeface="Telegraf Bold"/>
                  <a:cs typeface="Telegraf Bold"/>
                  <a:sym typeface="Telegraf Bold"/>
                </a:rPr>
                <a:t>&amp; Optimisation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4788094" y="2996222"/>
            <a:ext cx="3309223" cy="2843864"/>
            <a:chOff x="0" y="0"/>
            <a:chExt cx="812800" cy="6985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698500"/>
            </a:xfrm>
            <a:custGeom>
              <a:avLst/>
              <a:gdLst/>
              <a:ahLst/>
              <a:cxnLst/>
              <a:rect r="r" b="b" t="t" l="l"/>
              <a:pathLst>
                <a:path h="698500" w="812800">
                  <a:moveTo>
                    <a:pt x="812800" y="349250"/>
                  </a:moveTo>
                  <a:lnTo>
                    <a:pt x="609600" y="698500"/>
                  </a:lnTo>
                  <a:lnTo>
                    <a:pt x="203200" y="698500"/>
                  </a:lnTo>
                  <a:lnTo>
                    <a:pt x="0" y="349250"/>
                  </a:lnTo>
                  <a:lnTo>
                    <a:pt x="203200" y="0"/>
                  </a:lnTo>
                  <a:lnTo>
                    <a:pt x="609600" y="0"/>
                  </a:lnTo>
                  <a:lnTo>
                    <a:pt x="812800" y="349250"/>
                  </a:lnTo>
                  <a:close/>
                </a:path>
              </a:pathLst>
            </a:custGeom>
            <a:solidFill>
              <a:srgbClr val="FFC97F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114300" y="0"/>
              <a:ext cx="5842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00"/>
                </a:lnSpc>
              </a:pPr>
              <a:r>
                <a:rPr lang="en-US" sz="2100" b="true">
                  <a:solidFill>
                    <a:srgbClr val="000000"/>
                  </a:solidFill>
                  <a:latin typeface="Telegraf Bold"/>
                  <a:ea typeface="Telegraf Bold"/>
                  <a:cs typeface="Telegraf Bold"/>
                  <a:sym typeface="Telegraf Bold"/>
                </a:rPr>
                <a:t>Next-Day</a:t>
              </a:r>
            </a:p>
            <a:p>
              <a:pPr algn="ctr">
                <a:lnSpc>
                  <a:spcPts val="2100"/>
                </a:lnSpc>
              </a:pPr>
              <a:r>
                <a:rPr lang="en-US" b="true" sz="2100">
                  <a:solidFill>
                    <a:srgbClr val="000000"/>
                  </a:solidFill>
                  <a:latin typeface="Telegraf Bold"/>
                  <a:ea typeface="Telegraf Bold"/>
                  <a:cs typeface="Telegraf Bold"/>
                  <a:sym typeface="Telegraf Bold"/>
                </a:rPr>
                <a:t>Prediction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3930568" y="2996222"/>
            <a:ext cx="3309223" cy="2843864"/>
            <a:chOff x="0" y="0"/>
            <a:chExt cx="812800" cy="6985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698500"/>
            </a:xfrm>
            <a:custGeom>
              <a:avLst/>
              <a:gdLst/>
              <a:ahLst/>
              <a:cxnLst/>
              <a:rect r="r" b="b" t="t" l="l"/>
              <a:pathLst>
                <a:path h="698500" w="812800">
                  <a:moveTo>
                    <a:pt x="812800" y="349250"/>
                  </a:moveTo>
                  <a:lnTo>
                    <a:pt x="609600" y="698500"/>
                  </a:lnTo>
                  <a:lnTo>
                    <a:pt x="203200" y="698500"/>
                  </a:lnTo>
                  <a:lnTo>
                    <a:pt x="0" y="349250"/>
                  </a:lnTo>
                  <a:lnTo>
                    <a:pt x="203200" y="0"/>
                  </a:lnTo>
                  <a:lnTo>
                    <a:pt x="609600" y="0"/>
                  </a:lnTo>
                  <a:lnTo>
                    <a:pt x="812800" y="349250"/>
                  </a:lnTo>
                  <a:close/>
                </a:path>
              </a:pathLst>
            </a:custGeom>
            <a:solidFill>
              <a:srgbClr val="02B676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114300" y="0"/>
              <a:ext cx="5842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00"/>
                </a:lnSpc>
              </a:pPr>
              <a:r>
                <a:rPr lang="en-US" sz="2100" b="true">
                  <a:solidFill>
                    <a:srgbClr val="FFFFFF"/>
                  </a:solidFill>
                  <a:latin typeface="Telegraf Bold"/>
                  <a:ea typeface="Telegraf Bold"/>
                  <a:cs typeface="Telegraf Bold"/>
                  <a:sym typeface="Telegraf Bold"/>
                </a:rPr>
                <a:t>Pre-processing</a:t>
              </a:r>
            </a:p>
            <a:p>
              <a:pPr algn="ctr">
                <a:lnSpc>
                  <a:spcPts val="2100"/>
                </a:lnSpc>
              </a:pPr>
              <a:r>
                <a:rPr lang="en-US" b="true" sz="2100">
                  <a:solidFill>
                    <a:srgbClr val="FFFFFF"/>
                  </a:solidFill>
                  <a:latin typeface="Telegraf Bold"/>
                  <a:ea typeface="Telegraf Bold"/>
                  <a:cs typeface="Telegraf Bold"/>
                  <a:sym typeface="Telegraf Bold"/>
                </a:rPr>
                <a:t>&amp; Feature Eng.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1325396" y="2996222"/>
            <a:ext cx="3309223" cy="2843864"/>
            <a:chOff x="0" y="0"/>
            <a:chExt cx="812800" cy="6985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698500"/>
            </a:xfrm>
            <a:custGeom>
              <a:avLst/>
              <a:gdLst/>
              <a:ahLst/>
              <a:cxnLst/>
              <a:rect r="r" b="b" t="t" l="l"/>
              <a:pathLst>
                <a:path h="698500" w="812800">
                  <a:moveTo>
                    <a:pt x="812800" y="349250"/>
                  </a:moveTo>
                  <a:lnTo>
                    <a:pt x="609600" y="698500"/>
                  </a:lnTo>
                  <a:lnTo>
                    <a:pt x="203200" y="698500"/>
                  </a:lnTo>
                  <a:lnTo>
                    <a:pt x="0" y="349250"/>
                  </a:lnTo>
                  <a:lnTo>
                    <a:pt x="203200" y="0"/>
                  </a:lnTo>
                  <a:lnTo>
                    <a:pt x="609600" y="0"/>
                  </a:lnTo>
                  <a:lnTo>
                    <a:pt x="812800" y="349250"/>
                  </a:lnTo>
                  <a:close/>
                </a:path>
              </a:pathLst>
            </a:custGeom>
            <a:solidFill>
              <a:srgbClr val="02B676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114300" y="0"/>
              <a:ext cx="5842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00"/>
                </a:lnSpc>
              </a:pPr>
              <a:r>
                <a:rPr lang="en-US" b="true" sz="2100">
                  <a:solidFill>
                    <a:srgbClr val="FFFFFF"/>
                  </a:solidFill>
                  <a:latin typeface="Telegraf Bold"/>
                  <a:ea typeface="Telegraf Bold"/>
                  <a:cs typeface="Telegraf Bold"/>
                  <a:sym typeface="Telegraf Bold"/>
                </a:rPr>
                <a:t>Backtesting</a:t>
              </a:r>
            </a:p>
            <a:p>
              <a:pPr algn="ctr">
                <a:lnSpc>
                  <a:spcPts val="2100"/>
                </a:lnSpc>
              </a:pPr>
              <a:r>
                <a:rPr lang="en-US" b="true" sz="2100">
                  <a:solidFill>
                    <a:srgbClr val="FFFFFF"/>
                  </a:solidFill>
                  <a:latin typeface="Telegraf Bold"/>
                  <a:ea typeface="Telegraf Bold"/>
                  <a:cs typeface="Telegraf Bold"/>
                  <a:sym typeface="Telegraf Bold"/>
                </a:rPr>
                <a:t>(31-day test)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0" y="2996222"/>
            <a:ext cx="3309223" cy="2843864"/>
            <a:chOff x="0" y="0"/>
            <a:chExt cx="812800" cy="6985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812800" cy="698500"/>
            </a:xfrm>
            <a:custGeom>
              <a:avLst/>
              <a:gdLst/>
              <a:ahLst/>
              <a:cxnLst/>
              <a:rect r="r" b="b" t="t" l="l"/>
              <a:pathLst>
                <a:path h="698500" w="812800">
                  <a:moveTo>
                    <a:pt x="812800" y="349250"/>
                  </a:moveTo>
                  <a:lnTo>
                    <a:pt x="609600" y="698500"/>
                  </a:lnTo>
                  <a:lnTo>
                    <a:pt x="203200" y="698500"/>
                  </a:lnTo>
                  <a:lnTo>
                    <a:pt x="0" y="349250"/>
                  </a:lnTo>
                  <a:lnTo>
                    <a:pt x="203200" y="0"/>
                  </a:lnTo>
                  <a:lnTo>
                    <a:pt x="609600" y="0"/>
                  </a:lnTo>
                  <a:lnTo>
                    <a:pt x="812800" y="349250"/>
                  </a:lnTo>
                  <a:close/>
                </a:path>
              </a:pathLst>
            </a:custGeom>
            <a:solidFill>
              <a:srgbClr val="FFC97F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114300" y="0"/>
              <a:ext cx="5842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00"/>
                </a:lnSpc>
              </a:pPr>
              <a:r>
                <a:rPr lang="en-US" sz="2100" b="true">
                  <a:solidFill>
                    <a:srgbClr val="000000"/>
                  </a:solidFill>
                  <a:latin typeface="Telegraf Bold"/>
                  <a:ea typeface="Telegraf Bold"/>
                  <a:cs typeface="Telegraf Bold"/>
                  <a:sym typeface="Telegraf Bold"/>
                </a:rPr>
                <a:t>Data Collection</a:t>
              </a:r>
            </a:p>
            <a:p>
              <a:pPr algn="ctr">
                <a:lnSpc>
                  <a:spcPts val="2100"/>
                </a:lnSpc>
              </a:pPr>
              <a:r>
                <a:rPr lang="en-US" b="true" sz="2100">
                  <a:solidFill>
                    <a:srgbClr val="000000"/>
                  </a:solidFill>
                  <a:latin typeface="Telegraf Bold"/>
                  <a:ea typeface="Telegraf Bold"/>
                  <a:cs typeface="Telegraf Bold"/>
                  <a:sym typeface="Telegraf Bold"/>
                </a:rPr>
                <a:t>(yFinance)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-10800000">
            <a:off x="3021790" y="3995502"/>
            <a:ext cx="1242689" cy="845305"/>
            <a:chOff x="0" y="0"/>
            <a:chExt cx="647700" cy="44058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647700" cy="440580"/>
            </a:xfrm>
            <a:custGeom>
              <a:avLst/>
              <a:gdLst/>
              <a:ahLst/>
              <a:cxnLst/>
              <a:rect r="r" b="b" t="t" l="l"/>
              <a:pathLst>
                <a:path h="440580" w="647700">
                  <a:moveTo>
                    <a:pt x="239386" y="165816"/>
                  </a:moveTo>
                  <a:lnTo>
                    <a:pt x="647700" y="165816"/>
                  </a:lnTo>
                  <a:lnTo>
                    <a:pt x="647700" y="274743"/>
                  </a:lnTo>
                  <a:lnTo>
                    <a:pt x="239373" y="274743"/>
                  </a:lnTo>
                  <a:lnTo>
                    <a:pt x="302255" y="440580"/>
                  </a:lnTo>
                  <a:lnTo>
                    <a:pt x="0" y="220290"/>
                  </a:lnTo>
                  <a:lnTo>
                    <a:pt x="302255" y="0"/>
                  </a:lnTo>
                  <a:lnTo>
                    <a:pt x="239386" y="165816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120650" y="98425"/>
              <a:ext cx="527050" cy="17705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20" id="20"/>
          <p:cNvSpPr txBox="true"/>
          <p:nvPr/>
        </p:nvSpPr>
        <p:spPr>
          <a:xfrm rot="0">
            <a:off x="1028700" y="1019175"/>
            <a:ext cx="8115300" cy="1073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99"/>
              </a:lnSpc>
            </a:pPr>
            <a:r>
              <a:rPr lang="en-US" sz="6999" spc="342">
                <a:solidFill>
                  <a:srgbClr val="290606"/>
                </a:solidFill>
                <a:latin typeface="Cheddar"/>
                <a:ea typeface="Cheddar"/>
                <a:cs typeface="Cheddar"/>
                <a:sym typeface="Cheddar"/>
              </a:rPr>
              <a:t>SYSTEM PIPELINE</a:t>
            </a:r>
          </a:p>
        </p:txBody>
      </p:sp>
      <p:grpSp>
        <p:nvGrpSpPr>
          <p:cNvPr name="Group 21" id="21"/>
          <p:cNvGrpSpPr/>
          <p:nvPr/>
        </p:nvGrpSpPr>
        <p:grpSpPr>
          <a:xfrm rot="-10800000">
            <a:off x="6996879" y="3995502"/>
            <a:ext cx="1242689" cy="845305"/>
            <a:chOff x="0" y="0"/>
            <a:chExt cx="647700" cy="44058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647700" cy="440580"/>
            </a:xfrm>
            <a:custGeom>
              <a:avLst/>
              <a:gdLst/>
              <a:ahLst/>
              <a:cxnLst/>
              <a:rect r="r" b="b" t="t" l="l"/>
              <a:pathLst>
                <a:path h="440580" w="647700">
                  <a:moveTo>
                    <a:pt x="239386" y="165816"/>
                  </a:moveTo>
                  <a:lnTo>
                    <a:pt x="647700" y="165816"/>
                  </a:lnTo>
                  <a:lnTo>
                    <a:pt x="647700" y="274743"/>
                  </a:lnTo>
                  <a:lnTo>
                    <a:pt x="239373" y="274743"/>
                  </a:lnTo>
                  <a:lnTo>
                    <a:pt x="302255" y="440580"/>
                  </a:lnTo>
                  <a:lnTo>
                    <a:pt x="0" y="220290"/>
                  </a:lnTo>
                  <a:lnTo>
                    <a:pt x="302255" y="0"/>
                  </a:lnTo>
                  <a:lnTo>
                    <a:pt x="239386" y="165816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23" id="23"/>
            <p:cNvSpPr txBox="true"/>
            <p:nvPr/>
          </p:nvSpPr>
          <p:spPr>
            <a:xfrm>
              <a:off x="120650" y="98425"/>
              <a:ext cx="527050" cy="17705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4" id="24"/>
          <p:cNvGrpSpPr/>
          <p:nvPr/>
        </p:nvGrpSpPr>
        <p:grpSpPr>
          <a:xfrm rot="-10800000">
            <a:off x="10550599" y="3995502"/>
            <a:ext cx="1242689" cy="845305"/>
            <a:chOff x="0" y="0"/>
            <a:chExt cx="647700" cy="44058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647700" cy="440580"/>
            </a:xfrm>
            <a:custGeom>
              <a:avLst/>
              <a:gdLst/>
              <a:ahLst/>
              <a:cxnLst/>
              <a:rect r="r" b="b" t="t" l="l"/>
              <a:pathLst>
                <a:path h="440580" w="647700">
                  <a:moveTo>
                    <a:pt x="239386" y="165816"/>
                  </a:moveTo>
                  <a:lnTo>
                    <a:pt x="647700" y="165816"/>
                  </a:lnTo>
                  <a:lnTo>
                    <a:pt x="647700" y="274743"/>
                  </a:lnTo>
                  <a:lnTo>
                    <a:pt x="239373" y="274743"/>
                  </a:lnTo>
                  <a:lnTo>
                    <a:pt x="302255" y="440580"/>
                  </a:lnTo>
                  <a:lnTo>
                    <a:pt x="0" y="220290"/>
                  </a:lnTo>
                  <a:lnTo>
                    <a:pt x="302255" y="0"/>
                  </a:lnTo>
                  <a:lnTo>
                    <a:pt x="239386" y="165816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26" id="26"/>
            <p:cNvSpPr txBox="true"/>
            <p:nvPr/>
          </p:nvSpPr>
          <p:spPr>
            <a:xfrm>
              <a:off x="120650" y="98425"/>
              <a:ext cx="527050" cy="17705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7" id="27"/>
          <p:cNvGrpSpPr/>
          <p:nvPr/>
        </p:nvGrpSpPr>
        <p:grpSpPr>
          <a:xfrm rot="-10800000">
            <a:off x="14270161" y="3995502"/>
            <a:ext cx="1242689" cy="845305"/>
            <a:chOff x="0" y="0"/>
            <a:chExt cx="647700" cy="44058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647700" cy="440580"/>
            </a:xfrm>
            <a:custGeom>
              <a:avLst/>
              <a:gdLst/>
              <a:ahLst/>
              <a:cxnLst/>
              <a:rect r="r" b="b" t="t" l="l"/>
              <a:pathLst>
                <a:path h="440580" w="647700">
                  <a:moveTo>
                    <a:pt x="239386" y="165816"/>
                  </a:moveTo>
                  <a:lnTo>
                    <a:pt x="647700" y="165816"/>
                  </a:lnTo>
                  <a:lnTo>
                    <a:pt x="647700" y="274743"/>
                  </a:lnTo>
                  <a:lnTo>
                    <a:pt x="239373" y="274743"/>
                  </a:lnTo>
                  <a:lnTo>
                    <a:pt x="302255" y="440580"/>
                  </a:lnTo>
                  <a:lnTo>
                    <a:pt x="0" y="220290"/>
                  </a:lnTo>
                  <a:lnTo>
                    <a:pt x="302255" y="0"/>
                  </a:lnTo>
                  <a:lnTo>
                    <a:pt x="239386" y="165816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29" id="29"/>
            <p:cNvSpPr txBox="true"/>
            <p:nvPr/>
          </p:nvSpPr>
          <p:spPr>
            <a:xfrm>
              <a:off x="120650" y="98425"/>
              <a:ext cx="527050" cy="17705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689564" y="6588546"/>
            <a:ext cx="7843793" cy="2669754"/>
            <a:chOff x="0" y="0"/>
            <a:chExt cx="2065855" cy="703145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2065855" cy="703145"/>
            </a:xfrm>
            <a:custGeom>
              <a:avLst/>
              <a:gdLst/>
              <a:ahLst/>
              <a:cxnLst/>
              <a:rect r="r" b="b" t="t" l="l"/>
              <a:pathLst>
                <a:path h="703145" w="2065855">
                  <a:moveTo>
                    <a:pt x="50338" y="0"/>
                  </a:moveTo>
                  <a:lnTo>
                    <a:pt x="2015517" y="0"/>
                  </a:lnTo>
                  <a:cubicBezTo>
                    <a:pt x="2028868" y="0"/>
                    <a:pt x="2041671" y="5303"/>
                    <a:pt x="2051111" y="14744"/>
                  </a:cubicBezTo>
                  <a:cubicBezTo>
                    <a:pt x="2060552" y="24184"/>
                    <a:pt x="2065855" y="36987"/>
                    <a:pt x="2065855" y="50338"/>
                  </a:cubicBezTo>
                  <a:lnTo>
                    <a:pt x="2065855" y="652807"/>
                  </a:lnTo>
                  <a:cubicBezTo>
                    <a:pt x="2065855" y="666158"/>
                    <a:pt x="2060552" y="678961"/>
                    <a:pt x="2051111" y="688402"/>
                  </a:cubicBezTo>
                  <a:cubicBezTo>
                    <a:pt x="2041671" y="697842"/>
                    <a:pt x="2028868" y="703145"/>
                    <a:pt x="2015517" y="703145"/>
                  </a:cubicBezTo>
                  <a:lnTo>
                    <a:pt x="50338" y="703145"/>
                  </a:lnTo>
                  <a:cubicBezTo>
                    <a:pt x="36987" y="703145"/>
                    <a:pt x="24184" y="697842"/>
                    <a:pt x="14744" y="688402"/>
                  </a:cubicBezTo>
                  <a:cubicBezTo>
                    <a:pt x="5303" y="678961"/>
                    <a:pt x="0" y="666158"/>
                    <a:pt x="0" y="652807"/>
                  </a:cubicBezTo>
                  <a:lnTo>
                    <a:pt x="0" y="50338"/>
                  </a:lnTo>
                  <a:cubicBezTo>
                    <a:pt x="0" y="36987"/>
                    <a:pt x="5303" y="24184"/>
                    <a:pt x="14744" y="14744"/>
                  </a:cubicBezTo>
                  <a:cubicBezTo>
                    <a:pt x="24184" y="5303"/>
                    <a:pt x="36987" y="0"/>
                    <a:pt x="50338" y="0"/>
                  </a:cubicBezTo>
                  <a:close/>
                </a:path>
              </a:pathLst>
            </a:custGeom>
            <a:solidFill>
              <a:srgbClr val="02B676"/>
            </a:solidFill>
          </p:spPr>
        </p:sp>
        <p:sp>
          <p:nvSpPr>
            <p:cNvPr name="TextBox 32" id="32"/>
            <p:cNvSpPr txBox="true"/>
            <p:nvPr/>
          </p:nvSpPr>
          <p:spPr>
            <a:xfrm>
              <a:off x="0" y="-66675"/>
              <a:ext cx="2065855" cy="76982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33" id="33"/>
          <p:cNvSpPr txBox="true"/>
          <p:nvPr/>
        </p:nvSpPr>
        <p:spPr>
          <a:xfrm rot="0">
            <a:off x="818738" y="6761921"/>
            <a:ext cx="7714618" cy="26206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60"/>
              </a:lnSpc>
            </a:pPr>
            <a:r>
              <a:rPr lang="en-US" sz="2600" b="true">
                <a:solidFill>
                  <a:srgbClr val="FEC801"/>
                </a:solidFill>
                <a:latin typeface="Telegraf Medium"/>
                <a:ea typeface="Telegraf Medium"/>
                <a:cs typeface="Telegraf Medium"/>
                <a:sym typeface="Telegraf Medium"/>
              </a:rPr>
              <a:t>Hyperparameter Optimisation</a:t>
            </a:r>
          </a:p>
          <a:p>
            <a:pPr algn="l" marL="561341" indent="-280670" lvl="1">
              <a:lnSpc>
                <a:spcPts val="4160"/>
              </a:lnSpc>
              <a:buFont typeface="Arial"/>
              <a:buChar char="•"/>
            </a:pPr>
            <a:r>
              <a:rPr lang="en-US" b="true" sz="2600">
                <a:solidFill>
                  <a:srgbClr val="290606"/>
                </a:solidFill>
                <a:latin typeface="Telegraf Medium"/>
                <a:ea typeface="Telegraf Medium"/>
                <a:cs typeface="Telegraf Medium"/>
                <a:sym typeface="Telegraf Medium"/>
              </a:rPr>
              <a:t>Gr</a:t>
            </a:r>
            <a:r>
              <a:rPr lang="en-US" b="true" sz="2600">
                <a:solidFill>
                  <a:srgbClr val="290606"/>
                </a:solidFill>
                <a:latin typeface="Telegraf Medium"/>
                <a:ea typeface="Telegraf Medium"/>
                <a:cs typeface="Telegraf Medium"/>
                <a:sym typeface="Telegraf Medium"/>
              </a:rPr>
              <a:t>id Search + Time-Series Cross-Validation</a:t>
            </a:r>
          </a:p>
          <a:p>
            <a:pPr algn="l" marL="561341" indent="-280670" lvl="1">
              <a:lnSpc>
                <a:spcPts val="4160"/>
              </a:lnSpc>
              <a:buFont typeface="Arial"/>
              <a:buChar char="•"/>
            </a:pPr>
            <a:r>
              <a:rPr lang="en-US" b="true" sz="2600">
                <a:solidFill>
                  <a:srgbClr val="290606"/>
                </a:solidFill>
                <a:latin typeface="Telegraf Medium"/>
                <a:ea typeface="Telegraf Medium"/>
                <a:cs typeface="Telegraf Medium"/>
                <a:sym typeface="Telegraf Medium"/>
              </a:rPr>
              <a:t>Preserves chronological order — no leakage</a:t>
            </a:r>
          </a:p>
          <a:p>
            <a:pPr algn="l" marL="561341" indent="-280670" lvl="1">
              <a:lnSpc>
                <a:spcPts val="4160"/>
              </a:lnSpc>
              <a:buFont typeface="Arial"/>
              <a:buChar char="•"/>
            </a:pPr>
            <a:r>
              <a:rPr lang="en-US" b="true" sz="2600">
                <a:solidFill>
                  <a:srgbClr val="290606"/>
                </a:solidFill>
                <a:latin typeface="Telegraf Medium"/>
                <a:ea typeface="Telegraf Medium"/>
                <a:cs typeface="Telegraf Medium"/>
                <a:sym typeface="Telegraf Medium"/>
              </a:rPr>
              <a:t>Optimises on MSE → reports RMSE</a:t>
            </a:r>
          </a:p>
          <a:p>
            <a:pPr algn="l">
              <a:lnSpc>
                <a:spcPts val="4160"/>
              </a:lnSpc>
            </a:pPr>
            <a:r>
              <a:rPr lang="en-US" sz="2600" b="true">
                <a:solidFill>
                  <a:srgbClr val="290606"/>
                </a:solidFill>
                <a:latin typeface="Telegraf Medium"/>
                <a:ea typeface="Telegraf Medium"/>
                <a:cs typeface="Telegraf Medium"/>
                <a:sym typeface="Telegraf Medium"/>
              </a:rPr>
              <a:t>.</a:t>
            </a:r>
          </a:p>
        </p:txBody>
      </p:sp>
      <p:grpSp>
        <p:nvGrpSpPr>
          <p:cNvPr name="Group 34" id="34"/>
          <p:cNvGrpSpPr/>
          <p:nvPr/>
        </p:nvGrpSpPr>
        <p:grpSpPr>
          <a:xfrm rot="0">
            <a:off x="8991711" y="6588546"/>
            <a:ext cx="8615187" cy="2669754"/>
            <a:chOff x="0" y="0"/>
            <a:chExt cx="2269020" cy="703145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2269020" cy="703145"/>
            </a:xfrm>
            <a:custGeom>
              <a:avLst/>
              <a:gdLst/>
              <a:ahLst/>
              <a:cxnLst/>
              <a:rect r="r" b="b" t="t" l="l"/>
              <a:pathLst>
                <a:path h="703145" w="2269020">
                  <a:moveTo>
                    <a:pt x="45830" y="0"/>
                  </a:moveTo>
                  <a:lnTo>
                    <a:pt x="2223190" y="0"/>
                  </a:lnTo>
                  <a:cubicBezTo>
                    <a:pt x="2248502" y="0"/>
                    <a:pt x="2269020" y="20519"/>
                    <a:pt x="2269020" y="45830"/>
                  </a:cubicBezTo>
                  <a:lnTo>
                    <a:pt x="2269020" y="657315"/>
                  </a:lnTo>
                  <a:cubicBezTo>
                    <a:pt x="2269020" y="669470"/>
                    <a:pt x="2264192" y="681127"/>
                    <a:pt x="2255597" y="689722"/>
                  </a:cubicBezTo>
                  <a:cubicBezTo>
                    <a:pt x="2247002" y="698317"/>
                    <a:pt x="2235345" y="703145"/>
                    <a:pt x="2223190" y="703145"/>
                  </a:cubicBezTo>
                  <a:lnTo>
                    <a:pt x="45830" y="703145"/>
                  </a:lnTo>
                  <a:cubicBezTo>
                    <a:pt x="33675" y="703145"/>
                    <a:pt x="22018" y="698317"/>
                    <a:pt x="13423" y="689722"/>
                  </a:cubicBezTo>
                  <a:cubicBezTo>
                    <a:pt x="4829" y="681127"/>
                    <a:pt x="0" y="669470"/>
                    <a:pt x="0" y="657315"/>
                  </a:cubicBezTo>
                  <a:lnTo>
                    <a:pt x="0" y="45830"/>
                  </a:lnTo>
                  <a:cubicBezTo>
                    <a:pt x="0" y="33675"/>
                    <a:pt x="4829" y="22018"/>
                    <a:pt x="13423" y="13423"/>
                  </a:cubicBezTo>
                  <a:cubicBezTo>
                    <a:pt x="22018" y="4829"/>
                    <a:pt x="33675" y="0"/>
                    <a:pt x="45830" y="0"/>
                  </a:cubicBezTo>
                  <a:close/>
                </a:path>
              </a:pathLst>
            </a:custGeom>
            <a:solidFill>
              <a:srgbClr val="02B676"/>
            </a:solidFill>
          </p:spPr>
        </p:sp>
        <p:sp>
          <p:nvSpPr>
            <p:cNvPr name="TextBox 36" id="36"/>
            <p:cNvSpPr txBox="true"/>
            <p:nvPr/>
          </p:nvSpPr>
          <p:spPr>
            <a:xfrm>
              <a:off x="0" y="-66675"/>
              <a:ext cx="2269020" cy="76982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37" id="37"/>
          <p:cNvSpPr txBox="true"/>
          <p:nvPr/>
        </p:nvSpPr>
        <p:spPr>
          <a:xfrm rot="0">
            <a:off x="9120885" y="6761921"/>
            <a:ext cx="8486012" cy="26206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60"/>
              </a:lnSpc>
            </a:pPr>
            <a:r>
              <a:rPr lang="en-US" sz="2600" b="true">
                <a:solidFill>
                  <a:srgbClr val="FEC801"/>
                </a:solidFill>
                <a:latin typeface="Telegraf Medium"/>
                <a:ea typeface="Telegraf Medium"/>
                <a:cs typeface="Telegraf Medium"/>
                <a:sym typeface="Telegraf Medium"/>
              </a:rPr>
              <a:t>Evaluation Protocol</a:t>
            </a:r>
          </a:p>
          <a:p>
            <a:pPr algn="l" marL="561341" indent="-280670" lvl="1">
              <a:lnSpc>
                <a:spcPts val="4160"/>
              </a:lnSpc>
              <a:buFont typeface="Arial"/>
              <a:buChar char="•"/>
            </a:pPr>
            <a:r>
              <a:rPr lang="en-US" b="true" sz="2600">
                <a:solidFill>
                  <a:srgbClr val="290606"/>
                </a:solidFill>
                <a:latin typeface="Telegraf Medium"/>
                <a:ea typeface="Telegraf Medium"/>
                <a:cs typeface="Telegraf Medium"/>
                <a:sym typeface="Telegraf Medium"/>
              </a:rPr>
              <a:t>B</a:t>
            </a:r>
            <a:r>
              <a:rPr lang="en-US" b="true" sz="2600">
                <a:solidFill>
                  <a:srgbClr val="290606"/>
                </a:solidFill>
                <a:latin typeface="Telegraf Medium"/>
                <a:ea typeface="Telegraf Medium"/>
                <a:cs typeface="Telegraf Medium"/>
                <a:sym typeface="Telegraf Medium"/>
              </a:rPr>
              <a:t>acktesting on 31-day out-of-sample test period</a:t>
            </a:r>
          </a:p>
          <a:p>
            <a:pPr algn="l" marL="561341" indent="-280670" lvl="1">
              <a:lnSpc>
                <a:spcPts val="4160"/>
              </a:lnSpc>
              <a:buFont typeface="Arial"/>
              <a:buChar char="•"/>
            </a:pPr>
            <a:r>
              <a:rPr lang="en-US" b="true" sz="2600">
                <a:solidFill>
                  <a:srgbClr val="290606"/>
                </a:solidFill>
                <a:latin typeface="Telegraf Medium"/>
                <a:ea typeface="Telegraf Medium"/>
                <a:cs typeface="Telegraf Medium"/>
                <a:sym typeface="Telegraf Medium"/>
              </a:rPr>
              <a:t>All models evaluated on identical test set</a:t>
            </a:r>
          </a:p>
          <a:p>
            <a:pPr algn="l" marL="561341" indent="-280670" lvl="1">
              <a:lnSpc>
                <a:spcPts val="4160"/>
              </a:lnSpc>
              <a:buFont typeface="Arial"/>
              <a:buChar char="•"/>
            </a:pPr>
            <a:r>
              <a:rPr lang="en-US" b="true" sz="2600">
                <a:solidFill>
                  <a:srgbClr val="290606"/>
                </a:solidFill>
                <a:latin typeface="Telegraf Medium"/>
                <a:ea typeface="Telegraf Medium"/>
                <a:cs typeface="Telegraf Medium"/>
                <a:sym typeface="Telegraf Medium"/>
              </a:rPr>
              <a:t>Metrics: MAE and RMSE (USD per troy oz.)</a:t>
            </a:r>
          </a:p>
          <a:p>
            <a:pPr algn="l">
              <a:lnSpc>
                <a:spcPts val="4160"/>
              </a:lnSpc>
            </a:pPr>
            <a:r>
              <a:rPr lang="en-US" sz="2600" b="true">
                <a:solidFill>
                  <a:srgbClr val="290606"/>
                </a:solidFill>
                <a:latin typeface="Telegraf Medium"/>
                <a:ea typeface="Telegraf Medium"/>
                <a:cs typeface="Telegraf Medium"/>
                <a:sym typeface="Telegraf Medium"/>
              </a:rPr>
              <a:t>.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>
  <p:cSld>
    <p:bg>
      <p:bgPr>
        <a:solidFill>
          <a:srgbClr val="EEF4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410898" y="2527724"/>
            <a:ext cx="9387484" cy="1304790"/>
            <a:chOff x="0" y="0"/>
            <a:chExt cx="2472424" cy="34364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72424" cy="343648"/>
            </a:xfrm>
            <a:custGeom>
              <a:avLst/>
              <a:gdLst/>
              <a:ahLst/>
              <a:cxnLst/>
              <a:rect r="r" b="b" t="t" l="l"/>
              <a:pathLst>
                <a:path h="343648" w="2472424">
                  <a:moveTo>
                    <a:pt x="42060" y="0"/>
                  </a:moveTo>
                  <a:lnTo>
                    <a:pt x="2430364" y="0"/>
                  </a:lnTo>
                  <a:cubicBezTo>
                    <a:pt x="2453593" y="0"/>
                    <a:pt x="2472424" y="18831"/>
                    <a:pt x="2472424" y="42060"/>
                  </a:cubicBezTo>
                  <a:lnTo>
                    <a:pt x="2472424" y="301588"/>
                  </a:lnTo>
                  <a:cubicBezTo>
                    <a:pt x="2472424" y="324817"/>
                    <a:pt x="2453593" y="343648"/>
                    <a:pt x="2430364" y="343648"/>
                  </a:cubicBezTo>
                  <a:lnTo>
                    <a:pt x="42060" y="343648"/>
                  </a:lnTo>
                  <a:cubicBezTo>
                    <a:pt x="30905" y="343648"/>
                    <a:pt x="20207" y="339217"/>
                    <a:pt x="12319" y="331329"/>
                  </a:cubicBezTo>
                  <a:cubicBezTo>
                    <a:pt x="4431" y="323442"/>
                    <a:pt x="0" y="312743"/>
                    <a:pt x="0" y="301588"/>
                  </a:cubicBezTo>
                  <a:lnTo>
                    <a:pt x="0" y="42060"/>
                  </a:lnTo>
                  <a:cubicBezTo>
                    <a:pt x="0" y="18831"/>
                    <a:pt x="18831" y="0"/>
                    <a:pt x="42060" y="0"/>
                  </a:cubicBezTo>
                  <a:close/>
                </a:path>
              </a:pathLst>
            </a:custGeom>
            <a:solidFill>
              <a:srgbClr val="02B676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114300"/>
              <a:ext cx="2472424" cy="45794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900"/>
                </a:lnSpc>
              </a:pPr>
              <a:r>
                <a:rPr lang="en-US" b="true" sz="3500">
                  <a:solidFill>
                    <a:srgbClr val="FFFFFF"/>
                  </a:solidFill>
                  <a:latin typeface="Telegraf Bold"/>
                  <a:ea typeface="Telegraf Bold"/>
                  <a:cs typeface="Telegraf Bold"/>
                  <a:sym typeface="Telegraf Bold"/>
                </a:rPr>
                <a:t>Decision Tree (skforecast)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410898" y="3984929"/>
            <a:ext cx="9387484" cy="1304790"/>
            <a:chOff x="0" y="0"/>
            <a:chExt cx="2472424" cy="343648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472424" cy="343648"/>
            </a:xfrm>
            <a:custGeom>
              <a:avLst/>
              <a:gdLst/>
              <a:ahLst/>
              <a:cxnLst/>
              <a:rect r="r" b="b" t="t" l="l"/>
              <a:pathLst>
                <a:path h="343648" w="2472424">
                  <a:moveTo>
                    <a:pt x="42060" y="0"/>
                  </a:moveTo>
                  <a:lnTo>
                    <a:pt x="2430364" y="0"/>
                  </a:lnTo>
                  <a:cubicBezTo>
                    <a:pt x="2453593" y="0"/>
                    <a:pt x="2472424" y="18831"/>
                    <a:pt x="2472424" y="42060"/>
                  </a:cubicBezTo>
                  <a:lnTo>
                    <a:pt x="2472424" y="301588"/>
                  </a:lnTo>
                  <a:cubicBezTo>
                    <a:pt x="2472424" y="324817"/>
                    <a:pt x="2453593" y="343648"/>
                    <a:pt x="2430364" y="343648"/>
                  </a:cubicBezTo>
                  <a:lnTo>
                    <a:pt x="42060" y="343648"/>
                  </a:lnTo>
                  <a:cubicBezTo>
                    <a:pt x="30905" y="343648"/>
                    <a:pt x="20207" y="339217"/>
                    <a:pt x="12319" y="331329"/>
                  </a:cubicBezTo>
                  <a:cubicBezTo>
                    <a:pt x="4431" y="323442"/>
                    <a:pt x="0" y="312743"/>
                    <a:pt x="0" y="301588"/>
                  </a:cubicBezTo>
                  <a:lnTo>
                    <a:pt x="0" y="42060"/>
                  </a:lnTo>
                  <a:cubicBezTo>
                    <a:pt x="0" y="18831"/>
                    <a:pt x="18831" y="0"/>
                    <a:pt x="42060" y="0"/>
                  </a:cubicBezTo>
                  <a:close/>
                </a:path>
              </a:pathLst>
            </a:custGeom>
            <a:solidFill>
              <a:srgbClr val="02B676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114300"/>
              <a:ext cx="2472424" cy="45794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900"/>
                </a:lnSpc>
              </a:pPr>
              <a:r>
                <a:rPr lang="en-US" b="true" sz="3500">
                  <a:solidFill>
                    <a:srgbClr val="FFFFFF"/>
                  </a:solidFill>
                  <a:latin typeface="Telegraf Bold"/>
                  <a:ea typeface="Telegraf Bold"/>
                  <a:cs typeface="Telegraf Bold"/>
                  <a:sym typeface="Telegraf Bold"/>
                </a:rPr>
                <a:t>MLP Neural Network (scikit-learn)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410898" y="5442119"/>
            <a:ext cx="9387484" cy="1304790"/>
            <a:chOff x="0" y="0"/>
            <a:chExt cx="2472424" cy="343648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472424" cy="343648"/>
            </a:xfrm>
            <a:custGeom>
              <a:avLst/>
              <a:gdLst/>
              <a:ahLst/>
              <a:cxnLst/>
              <a:rect r="r" b="b" t="t" l="l"/>
              <a:pathLst>
                <a:path h="343648" w="2472424">
                  <a:moveTo>
                    <a:pt x="42060" y="0"/>
                  </a:moveTo>
                  <a:lnTo>
                    <a:pt x="2430364" y="0"/>
                  </a:lnTo>
                  <a:cubicBezTo>
                    <a:pt x="2453593" y="0"/>
                    <a:pt x="2472424" y="18831"/>
                    <a:pt x="2472424" y="42060"/>
                  </a:cubicBezTo>
                  <a:lnTo>
                    <a:pt x="2472424" y="301588"/>
                  </a:lnTo>
                  <a:cubicBezTo>
                    <a:pt x="2472424" y="324817"/>
                    <a:pt x="2453593" y="343648"/>
                    <a:pt x="2430364" y="343648"/>
                  </a:cubicBezTo>
                  <a:lnTo>
                    <a:pt x="42060" y="343648"/>
                  </a:lnTo>
                  <a:cubicBezTo>
                    <a:pt x="30905" y="343648"/>
                    <a:pt x="20207" y="339217"/>
                    <a:pt x="12319" y="331329"/>
                  </a:cubicBezTo>
                  <a:cubicBezTo>
                    <a:pt x="4431" y="323442"/>
                    <a:pt x="0" y="312743"/>
                    <a:pt x="0" y="301588"/>
                  </a:cubicBezTo>
                  <a:lnTo>
                    <a:pt x="0" y="42060"/>
                  </a:lnTo>
                  <a:cubicBezTo>
                    <a:pt x="0" y="18831"/>
                    <a:pt x="18831" y="0"/>
                    <a:pt x="42060" y="0"/>
                  </a:cubicBezTo>
                  <a:close/>
                </a:path>
              </a:pathLst>
            </a:custGeom>
            <a:solidFill>
              <a:srgbClr val="02B676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114300"/>
              <a:ext cx="2472424" cy="45794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900"/>
                </a:lnSpc>
              </a:pPr>
              <a:r>
                <a:rPr lang="en-US" b="true" sz="3500">
                  <a:solidFill>
                    <a:srgbClr val="FFFFFF"/>
                  </a:solidFill>
                  <a:latin typeface="Telegraf Bold"/>
                  <a:ea typeface="Telegraf Bold"/>
                  <a:cs typeface="Telegraf Bold"/>
                  <a:sym typeface="Telegraf Bold"/>
                </a:rPr>
                <a:t>LSTM (TensorFlow/Keras)</a:t>
              </a: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1028700" y="1019175"/>
            <a:ext cx="8115300" cy="1073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99"/>
              </a:lnSpc>
            </a:pPr>
            <a:r>
              <a:rPr lang="en-US" sz="6999" spc="342">
                <a:solidFill>
                  <a:srgbClr val="290606"/>
                </a:solidFill>
                <a:latin typeface="Cheddar"/>
                <a:ea typeface="Cheddar"/>
                <a:cs typeface="Cheddar"/>
                <a:sym typeface="Cheddar"/>
              </a:rPr>
              <a:t>MODELS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1410898" y="6899309"/>
            <a:ext cx="9387484" cy="1304790"/>
            <a:chOff x="0" y="0"/>
            <a:chExt cx="2472424" cy="343648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472424" cy="343648"/>
            </a:xfrm>
            <a:custGeom>
              <a:avLst/>
              <a:gdLst/>
              <a:ahLst/>
              <a:cxnLst/>
              <a:rect r="r" b="b" t="t" l="l"/>
              <a:pathLst>
                <a:path h="343648" w="2472424">
                  <a:moveTo>
                    <a:pt x="42060" y="0"/>
                  </a:moveTo>
                  <a:lnTo>
                    <a:pt x="2430364" y="0"/>
                  </a:lnTo>
                  <a:cubicBezTo>
                    <a:pt x="2453593" y="0"/>
                    <a:pt x="2472424" y="18831"/>
                    <a:pt x="2472424" y="42060"/>
                  </a:cubicBezTo>
                  <a:lnTo>
                    <a:pt x="2472424" y="301588"/>
                  </a:lnTo>
                  <a:cubicBezTo>
                    <a:pt x="2472424" y="324817"/>
                    <a:pt x="2453593" y="343648"/>
                    <a:pt x="2430364" y="343648"/>
                  </a:cubicBezTo>
                  <a:lnTo>
                    <a:pt x="42060" y="343648"/>
                  </a:lnTo>
                  <a:cubicBezTo>
                    <a:pt x="30905" y="343648"/>
                    <a:pt x="20207" y="339217"/>
                    <a:pt x="12319" y="331329"/>
                  </a:cubicBezTo>
                  <a:cubicBezTo>
                    <a:pt x="4431" y="323442"/>
                    <a:pt x="0" y="312743"/>
                    <a:pt x="0" y="301588"/>
                  </a:cubicBezTo>
                  <a:lnTo>
                    <a:pt x="0" y="42060"/>
                  </a:lnTo>
                  <a:cubicBezTo>
                    <a:pt x="0" y="18831"/>
                    <a:pt x="18831" y="0"/>
                    <a:pt x="42060" y="0"/>
                  </a:cubicBezTo>
                  <a:close/>
                </a:path>
              </a:pathLst>
            </a:custGeom>
            <a:solidFill>
              <a:srgbClr val="02B676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114300"/>
              <a:ext cx="2472424" cy="45794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900"/>
                </a:lnSpc>
              </a:pPr>
              <a:r>
                <a:rPr lang="en-US" b="true" sz="3500">
                  <a:solidFill>
                    <a:srgbClr val="FFFFFF"/>
                  </a:solidFill>
                  <a:latin typeface="Telegraf Bold"/>
                  <a:ea typeface="Telegraf Bold"/>
                  <a:cs typeface="Telegraf Bold"/>
                  <a:sym typeface="Telegraf Bold"/>
                </a:rPr>
                <a:t>Random Forest (skforecast)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410898" y="8410054"/>
            <a:ext cx="9387484" cy="1304790"/>
            <a:chOff x="0" y="0"/>
            <a:chExt cx="2472424" cy="343648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472424" cy="343648"/>
            </a:xfrm>
            <a:custGeom>
              <a:avLst/>
              <a:gdLst/>
              <a:ahLst/>
              <a:cxnLst/>
              <a:rect r="r" b="b" t="t" l="l"/>
              <a:pathLst>
                <a:path h="343648" w="2472424">
                  <a:moveTo>
                    <a:pt x="42060" y="0"/>
                  </a:moveTo>
                  <a:lnTo>
                    <a:pt x="2430364" y="0"/>
                  </a:lnTo>
                  <a:cubicBezTo>
                    <a:pt x="2453593" y="0"/>
                    <a:pt x="2472424" y="18831"/>
                    <a:pt x="2472424" y="42060"/>
                  </a:cubicBezTo>
                  <a:lnTo>
                    <a:pt x="2472424" y="301588"/>
                  </a:lnTo>
                  <a:cubicBezTo>
                    <a:pt x="2472424" y="324817"/>
                    <a:pt x="2453593" y="343648"/>
                    <a:pt x="2430364" y="343648"/>
                  </a:cubicBezTo>
                  <a:lnTo>
                    <a:pt x="42060" y="343648"/>
                  </a:lnTo>
                  <a:cubicBezTo>
                    <a:pt x="30905" y="343648"/>
                    <a:pt x="20207" y="339217"/>
                    <a:pt x="12319" y="331329"/>
                  </a:cubicBezTo>
                  <a:cubicBezTo>
                    <a:pt x="4431" y="323442"/>
                    <a:pt x="0" y="312743"/>
                    <a:pt x="0" y="301588"/>
                  </a:cubicBezTo>
                  <a:lnTo>
                    <a:pt x="0" y="42060"/>
                  </a:lnTo>
                  <a:cubicBezTo>
                    <a:pt x="0" y="18831"/>
                    <a:pt x="18831" y="0"/>
                    <a:pt x="42060" y="0"/>
                  </a:cubicBezTo>
                  <a:close/>
                </a:path>
              </a:pathLst>
            </a:custGeom>
            <a:solidFill>
              <a:srgbClr val="02B676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114300"/>
              <a:ext cx="2472424" cy="45794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900"/>
                </a:lnSpc>
              </a:pPr>
              <a:r>
                <a:rPr lang="en-US" b="true" sz="3500">
                  <a:solidFill>
                    <a:srgbClr val="FFFFFF"/>
                  </a:solidFill>
                  <a:latin typeface="Telegraf Bold"/>
                  <a:ea typeface="Telegraf Bold"/>
                  <a:cs typeface="Telegraf Bold"/>
                  <a:sym typeface="Telegraf Bold"/>
                </a:rPr>
                <a:t>Keras Dense Network (TensorFlow)</a:t>
              </a:r>
            </a:p>
          </p:txBody>
        </p:sp>
      </p:grp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EF4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53033" y="2528090"/>
            <a:ext cx="7675735" cy="4889520"/>
            <a:chOff x="0" y="0"/>
            <a:chExt cx="2021593" cy="128777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021593" cy="1287775"/>
            </a:xfrm>
            <a:custGeom>
              <a:avLst/>
              <a:gdLst/>
              <a:ahLst/>
              <a:cxnLst/>
              <a:rect r="r" b="b" t="t" l="l"/>
              <a:pathLst>
                <a:path h="1287775" w="2021593">
                  <a:moveTo>
                    <a:pt x="51440" y="0"/>
                  </a:moveTo>
                  <a:lnTo>
                    <a:pt x="1970153" y="0"/>
                  </a:lnTo>
                  <a:cubicBezTo>
                    <a:pt x="1998562" y="0"/>
                    <a:pt x="2021593" y="23030"/>
                    <a:pt x="2021593" y="51440"/>
                  </a:cubicBezTo>
                  <a:lnTo>
                    <a:pt x="2021593" y="1236335"/>
                  </a:lnTo>
                  <a:cubicBezTo>
                    <a:pt x="2021593" y="1264744"/>
                    <a:pt x="1998562" y="1287775"/>
                    <a:pt x="1970153" y="1287775"/>
                  </a:cubicBezTo>
                  <a:lnTo>
                    <a:pt x="51440" y="1287775"/>
                  </a:lnTo>
                  <a:cubicBezTo>
                    <a:pt x="23030" y="1287775"/>
                    <a:pt x="0" y="1264744"/>
                    <a:pt x="0" y="1236335"/>
                  </a:cubicBezTo>
                  <a:lnTo>
                    <a:pt x="0" y="51440"/>
                  </a:lnTo>
                  <a:cubicBezTo>
                    <a:pt x="0" y="23030"/>
                    <a:pt x="23030" y="0"/>
                    <a:pt x="51440" y="0"/>
                  </a:cubicBezTo>
                  <a:close/>
                </a:path>
              </a:pathLst>
            </a:custGeom>
            <a:solidFill>
              <a:srgbClr val="02B676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66675"/>
              <a:ext cx="2021593" cy="13544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8131602" y="2396756"/>
            <a:ext cx="9475296" cy="5708866"/>
          </a:xfrm>
          <a:custGeom>
            <a:avLst/>
            <a:gdLst/>
            <a:ahLst/>
            <a:cxnLst/>
            <a:rect r="r" b="b" t="t" l="l"/>
            <a:pathLst>
              <a:path h="5708866" w="9475296">
                <a:moveTo>
                  <a:pt x="0" y="0"/>
                </a:moveTo>
                <a:lnTo>
                  <a:pt x="9475295" y="0"/>
                </a:lnTo>
                <a:lnTo>
                  <a:pt x="9475295" y="5708866"/>
                </a:lnTo>
                <a:lnTo>
                  <a:pt x="0" y="570886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028700" y="737339"/>
            <a:ext cx="9665396" cy="1073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99"/>
              </a:lnSpc>
            </a:pPr>
            <a:r>
              <a:rPr lang="en-US" sz="6999" spc="342">
                <a:solidFill>
                  <a:srgbClr val="290606"/>
                </a:solidFill>
                <a:latin typeface="Cheddar"/>
                <a:ea typeface="Cheddar"/>
                <a:cs typeface="Cheddar"/>
                <a:sym typeface="Cheddar"/>
              </a:rPr>
              <a:t>FORECASTER MODEL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282207" y="2701465"/>
            <a:ext cx="7546560" cy="47161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60"/>
              </a:lnSpc>
            </a:pPr>
            <a:r>
              <a:rPr lang="en-US" sz="2600" b="true">
                <a:solidFill>
                  <a:srgbClr val="FEC801"/>
                </a:solidFill>
                <a:latin typeface="Telegraf Medium"/>
                <a:ea typeface="Telegraf Medium"/>
                <a:cs typeface="Telegraf Medium"/>
                <a:sym typeface="Telegraf Medium"/>
              </a:rPr>
              <a:t>Optimal Configuration</a:t>
            </a:r>
          </a:p>
          <a:p>
            <a:pPr algn="l" marL="561341" indent="-280670" lvl="1">
              <a:lnSpc>
                <a:spcPts val="4160"/>
              </a:lnSpc>
              <a:buFont typeface="Arial"/>
              <a:buChar char="•"/>
            </a:pPr>
            <a:r>
              <a:rPr lang="en-US" b="true" sz="2600">
                <a:solidFill>
                  <a:srgbClr val="290606"/>
                </a:solidFill>
                <a:latin typeface="Telegraf Medium"/>
                <a:ea typeface="Telegraf Medium"/>
                <a:cs typeface="Telegraf Medium"/>
                <a:sym typeface="Telegraf Medium"/>
              </a:rPr>
              <a:t>m</a:t>
            </a:r>
            <a:r>
              <a:rPr lang="en-US" b="true" sz="2600">
                <a:solidFill>
                  <a:srgbClr val="290606"/>
                </a:solidFill>
                <a:latin typeface="Telegraf Medium"/>
                <a:ea typeface="Telegraf Medium"/>
                <a:cs typeface="Telegraf Medium"/>
                <a:sym typeface="Telegraf Medium"/>
              </a:rPr>
              <a:t>ax_depth: 1</a:t>
            </a:r>
          </a:p>
          <a:p>
            <a:pPr algn="l" marL="561341" indent="-280670" lvl="1">
              <a:lnSpc>
                <a:spcPts val="4160"/>
              </a:lnSpc>
              <a:buFont typeface="Arial"/>
              <a:buChar char="•"/>
            </a:pPr>
            <a:r>
              <a:rPr lang="en-US" b="true" sz="2600">
                <a:solidFill>
                  <a:srgbClr val="290606"/>
                </a:solidFill>
                <a:latin typeface="Telegraf Medium"/>
                <a:ea typeface="Telegraf Medium"/>
                <a:cs typeface="Telegraf Medium"/>
                <a:sym typeface="Telegraf Medium"/>
              </a:rPr>
              <a:t>min_samples_split: 3</a:t>
            </a:r>
          </a:p>
          <a:p>
            <a:pPr algn="l" marL="561341" indent="-280670" lvl="1">
              <a:lnSpc>
                <a:spcPts val="4160"/>
              </a:lnSpc>
              <a:buFont typeface="Arial"/>
              <a:buChar char="•"/>
            </a:pPr>
            <a:r>
              <a:rPr lang="en-US" b="true" sz="2600">
                <a:solidFill>
                  <a:srgbClr val="290606"/>
                </a:solidFill>
                <a:latin typeface="Telegraf Medium"/>
                <a:ea typeface="Telegraf Medium"/>
                <a:cs typeface="Telegraf Medium"/>
                <a:sym typeface="Telegraf Medium"/>
              </a:rPr>
              <a:t>ccp_alpha: 0.001</a:t>
            </a:r>
          </a:p>
          <a:p>
            <a:pPr algn="l" marL="561341" indent="-280670" lvl="1">
              <a:lnSpc>
                <a:spcPts val="4160"/>
              </a:lnSpc>
              <a:buFont typeface="Arial"/>
              <a:buChar char="•"/>
            </a:pPr>
            <a:r>
              <a:rPr lang="en-US" b="true" sz="2600">
                <a:solidFill>
                  <a:srgbClr val="290606"/>
                </a:solidFill>
                <a:latin typeface="Telegraf Medium"/>
                <a:ea typeface="Telegraf Medium"/>
                <a:cs typeface="Telegraf Medium"/>
                <a:sym typeface="Telegraf Medium"/>
              </a:rPr>
              <a:t>Features: 155 lag-based variation features</a:t>
            </a:r>
          </a:p>
          <a:p>
            <a:pPr algn="l" marL="561341" indent="-280670" lvl="1">
              <a:lnSpc>
                <a:spcPts val="4160"/>
              </a:lnSpc>
              <a:buFont typeface="Arial"/>
              <a:buChar char="•"/>
            </a:pPr>
            <a:r>
              <a:rPr lang="en-US" b="true" sz="2600">
                <a:solidFill>
                  <a:srgbClr val="290606"/>
                </a:solidFill>
                <a:latin typeface="Telegraf Medium"/>
                <a:ea typeface="Telegraf Medium"/>
                <a:cs typeface="Telegraf Medium"/>
                <a:sym typeface="Telegraf Medium"/>
              </a:rPr>
              <a:t>Test period: 16 Feb – 18 Mar 2026</a:t>
            </a:r>
          </a:p>
          <a:p>
            <a:pPr algn="l" marL="561341" indent="-280670" lvl="1">
              <a:lnSpc>
                <a:spcPts val="4160"/>
              </a:lnSpc>
              <a:buFont typeface="Arial"/>
              <a:buChar char="•"/>
            </a:pPr>
            <a:r>
              <a:rPr lang="en-US" b="true" sz="2600">
                <a:solidFill>
                  <a:srgbClr val="290606"/>
                </a:solidFill>
                <a:latin typeface="Telegraf Medium"/>
                <a:ea typeface="Telegraf Medium"/>
                <a:cs typeface="Telegraf Medium"/>
                <a:sym typeface="Telegraf Medium"/>
              </a:rPr>
              <a:t>Actual range: $4,882.90 – $5,294.40</a:t>
            </a:r>
          </a:p>
          <a:p>
            <a:pPr algn="l" marL="561341" indent="-280670" lvl="1">
              <a:lnSpc>
                <a:spcPts val="4160"/>
              </a:lnSpc>
              <a:buFont typeface="Arial"/>
              <a:buChar char="•"/>
            </a:pPr>
            <a:r>
              <a:rPr lang="en-US" b="true" sz="2600">
                <a:solidFill>
                  <a:srgbClr val="290606"/>
                </a:solidFill>
                <a:latin typeface="Telegraf Medium"/>
                <a:ea typeface="Telegraf Medium"/>
                <a:cs typeface="Telegraf Medium"/>
                <a:sym typeface="Telegraf Medium"/>
              </a:rPr>
              <a:t>Predicted range: $4,885.59 – $5,297.09</a:t>
            </a:r>
          </a:p>
          <a:p>
            <a:pPr algn="l">
              <a:lnSpc>
                <a:spcPts val="4160"/>
              </a:lnSpc>
            </a:pPr>
            <a:r>
              <a:rPr lang="en-US" sz="2600" b="true">
                <a:solidFill>
                  <a:srgbClr val="290606"/>
                </a:solidFill>
                <a:latin typeface="Telegraf Medium"/>
                <a:ea typeface="Telegraf Medium"/>
                <a:cs typeface="Telegraf Medium"/>
                <a:sym typeface="Telegraf Medium"/>
              </a:rPr>
              <a:t>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8131602" y="8438997"/>
            <a:ext cx="9475296" cy="2914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00"/>
              </a:lnSpc>
            </a:pPr>
            <a:r>
              <a:rPr lang="en-US" sz="2100" spc="102">
                <a:solidFill>
                  <a:srgbClr val="290606"/>
                </a:solidFill>
                <a:latin typeface="DM Sans"/>
                <a:ea typeface="DM Sans"/>
                <a:cs typeface="DM Sans"/>
                <a:sym typeface="DM Sans"/>
              </a:rPr>
              <a:t>actual vs Predicted daily gold price variation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813389" y="7577449"/>
            <a:ext cx="3001960" cy="2306026"/>
            <a:chOff x="0" y="0"/>
            <a:chExt cx="790640" cy="607348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790640" cy="607348"/>
            </a:xfrm>
            <a:custGeom>
              <a:avLst/>
              <a:gdLst/>
              <a:ahLst/>
              <a:cxnLst/>
              <a:rect r="r" b="b" t="t" l="l"/>
              <a:pathLst>
                <a:path h="607348" w="790640">
                  <a:moveTo>
                    <a:pt x="131527" y="0"/>
                  </a:moveTo>
                  <a:lnTo>
                    <a:pt x="659113" y="0"/>
                  </a:lnTo>
                  <a:cubicBezTo>
                    <a:pt x="731753" y="0"/>
                    <a:pt x="790640" y="58887"/>
                    <a:pt x="790640" y="131527"/>
                  </a:cubicBezTo>
                  <a:lnTo>
                    <a:pt x="790640" y="475822"/>
                  </a:lnTo>
                  <a:cubicBezTo>
                    <a:pt x="790640" y="548462"/>
                    <a:pt x="731753" y="607348"/>
                    <a:pt x="659113" y="607348"/>
                  </a:cubicBezTo>
                  <a:lnTo>
                    <a:pt x="131527" y="607348"/>
                  </a:lnTo>
                  <a:cubicBezTo>
                    <a:pt x="58887" y="607348"/>
                    <a:pt x="0" y="548462"/>
                    <a:pt x="0" y="475822"/>
                  </a:cubicBezTo>
                  <a:lnTo>
                    <a:pt x="0" y="131527"/>
                  </a:lnTo>
                  <a:cubicBezTo>
                    <a:pt x="0" y="58887"/>
                    <a:pt x="58887" y="0"/>
                    <a:pt x="131527" y="0"/>
                  </a:cubicBezTo>
                  <a:close/>
                </a:path>
              </a:pathLst>
            </a:custGeom>
            <a:solidFill>
              <a:srgbClr val="02B676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66675"/>
              <a:ext cx="790640" cy="67402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4166450" y="7577449"/>
            <a:ext cx="3001960" cy="2306026"/>
            <a:chOff x="0" y="0"/>
            <a:chExt cx="790640" cy="607348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790640" cy="607348"/>
            </a:xfrm>
            <a:custGeom>
              <a:avLst/>
              <a:gdLst/>
              <a:ahLst/>
              <a:cxnLst/>
              <a:rect r="r" b="b" t="t" l="l"/>
              <a:pathLst>
                <a:path h="607348" w="790640">
                  <a:moveTo>
                    <a:pt x="131527" y="0"/>
                  </a:moveTo>
                  <a:lnTo>
                    <a:pt x="659113" y="0"/>
                  </a:lnTo>
                  <a:cubicBezTo>
                    <a:pt x="731753" y="0"/>
                    <a:pt x="790640" y="58887"/>
                    <a:pt x="790640" y="131527"/>
                  </a:cubicBezTo>
                  <a:lnTo>
                    <a:pt x="790640" y="475822"/>
                  </a:lnTo>
                  <a:cubicBezTo>
                    <a:pt x="790640" y="548462"/>
                    <a:pt x="731753" y="607348"/>
                    <a:pt x="659113" y="607348"/>
                  </a:cubicBezTo>
                  <a:lnTo>
                    <a:pt x="131527" y="607348"/>
                  </a:lnTo>
                  <a:cubicBezTo>
                    <a:pt x="58887" y="607348"/>
                    <a:pt x="0" y="548462"/>
                    <a:pt x="0" y="475822"/>
                  </a:cubicBezTo>
                  <a:lnTo>
                    <a:pt x="0" y="131527"/>
                  </a:lnTo>
                  <a:cubicBezTo>
                    <a:pt x="0" y="58887"/>
                    <a:pt x="58887" y="0"/>
                    <a:pt x="131527" y="0"/>
                  </a:cubicBezTo>
                  <a:close/>
                </a:path>
              </a:pathLst>
            </a:custGeom>
            <a:solidFill>
              <a:srgbClr val="02B676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66675"/>
              <a:ext cx="790640" cy="67402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5" id="15"/>
          <p:cNvSpPr txBox="true"/>
          <p:nvPr/>
        </p:nvSpPr>
        <p:spPr>
          <a:xfrm rot="0">
            <a:off x="1500364" y="9062976"/>
            <a:ext cx="1628012" cy="5251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60"/>
              </a:lnSpc>
            </a:pPr>
            <a:r>
              <a:rPr lang="en-US" sz="2600" b="true">
                <a:solidFill>
                  <a:srgbClr val="FEC801"/>
                </a:solidFill>
                <a:latin typeface="Telegraf Medium"/>
                <a:ea typeface="Telegraf Medium"/>
                <a:cs typeface="Telegraf Medium"/>
                <a:sym typeface="Telegraf Medium"/>
              </a:rPr>
              <a:t>MAE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500364" y="7864317"/>
            <a:ext cx="1628012" cy="12369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239"/>
              </a:lnSpc>
            </a:pPr>
            <a:r>
              <a:rPr lang="en-US" sz="6399">
                <a:solidFill>
                  <a:srgbClr val="FEC801"/>
                </a:solidFill>
                <a:latin typeface="Bebas Neue"/>
                <a:ea typeface="Bebas Neue"/>
                <a:cs typeface="Bebas Neue"/>
                <a:sym typeface="Bebas Neue"/>
              </a:rPr>
              <a:t>66.03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4853424" y="9062976"/>
            <a:ext cx="1628012" cy="5251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60"/>
              </a:lnSpc>
            </a:pPr>
            <a:r>
              <a:rPr lang="en-US" sz="2600" b="true">
                <a:solidFill>
                  <a:srgbClr val="FEC801"/>
                </a:solidFill>
                <a:latin typeface="Telegraf Medium"/>
                <a:ea typeface="Telegraf Medium"/>
                <a:cs typeface="Telegraf Medium"/>
                <a:sym typeface="Telegraf Medium"/>
              </a:rPr>
              <a:t>RMSE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4853424" y="7864317"/>
            <a:ext cx="1628012" cy="12369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239"/>
              </a:lnSpc>
            </a:pPr>
            <a:r>
              <a:rPr lang="en-US" sz="6399">
                <a:solidFill>
                  <a:srgbClr val="FEC801"/>
                </a:solidFill>
                <a:latin typeface="Bebas Neue"/>
                <a:ea typeface="Bebas Neue"/>
                <a:cs typeface="Bebas Neue"/>
                <a:sym typeface="Bebas Neue"/>
              </a:rPr>
              <a:t>103.01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EF4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53033" y="2528090"/>
            <a:ext cx="6671304" cy="4889520"/>
            <a:chOff x="0" y="0"/>
            <a:chExt cx="1757051" cy="128777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757051" cy="1287775"/>
            </a:xfrm>
            <a:custGeom>
              <a:avLst/>
              <a:gdLst/>
              <a:ahLst/>
              <a:cxnLst/>
              <a:rect r="r" b="b" t="t" l="l"/>
              <a:pathLst>
                <a:path h="1287775" w="1757051">
                  <a:moveTo>
                    <a:pt x="59185" y="0"/>
                  </a:moveTo>
                  <a:lnTo>
                    <a:pt x="1697867" y="0"/>
                  </a:lnTo>
                  <a:cubicBezTo>
                    <a:pt x="1730553" y="0"/>
                    <a:pt x="1757051" y="26498"/>
                    <a:pt x="1757051" y="59185"/>
                  </a:cubicBezTo>
                  <a:lnTo>
                    <a:pt x="1757051" y="1228590"/>
                  </a:lnTo>
                  <a:cubicBezTo>
                    <a:pt x="1757051" y="1261277"/>
                    <a:pt x="1730553" y="1287775"/>
                    <a:pt x="1697867" y="1287775"/>
                  </a:cubicBezTo>
                  <a:lnTo>
                    <a:pt x="59185" y="1287775"/>
                  </a:lnTo>
                  <a:cubicBezTo>
                    <a:pt x="26498" y="1287775"/>
                    <a:pt x="0" y="1261277"/>
                    <a:pt x="0" y="1228590"/>
                  </a:cubicBezTo>
                  <a:lnTo>
                    <a:pt x="0" y="59185"/>
                  </a:lnTo>
                  <a:cubicBezTo>
                    <a:pt x="0" y="26498"/>
                    <a:pt x="26498" y="0"/>
                    <a:pt x="59185" y="0"/>
                  </a:cubicBezTo>
                  <a:close/>
                </a:path>
              </a:pathLst>
            </a:custGeom>
            <a:solidFill>
              <a:srgbClr val="02B676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66675"/>
              <a:ext cx="1757051" cy="13544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028700" y="737339"/>
            <a:ext cx="11591273" cy="1073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99"/>
              </a:lnSpc>
            </a:pPr>
            <a:r>
              <a:rPr lang="en-US" sz="6999" spc="342">
                <a:solidFill>
                  <a:srgbClr val="290606"/>
                </a:solidFill>
                <a:latin typeface="Cheddar"/>
                <a:ea typeface="Cheddar"/>
                <a:cs typeface="Cheddar"/>
                <a:sym typeface="Cheddar"/>
              </a:rPr>
              <a:t>RANDOM FOREST MODEL RESULTS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282207" y="2548103"/>
            <a:ext cx="6542129" cy="47161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60"/>
              </a:lnSpc>
            </a:pPr>
            <a:r>
              <a:rPr lang="en-US" sz="2600" b="true">
                <a:solidFill>
                  <a:srgbClr val="FEC801"/>
                </a:solidFill>
                <a:latin typeface="Telegraf Medium"/>
                <a:ea typeface="Telegraf Medium"/>
                <a:cs typeface="Telegraf Medium"/>
                <a:sym typeface="Telegraf Medium"/>
              </a:rPr>
              <a:t>Optimal Configuration</a:t>
            </a:r>
          </a:p>
          <a:p>
            <a:pPr algn="l" marL="561341" indent="-280670" lvl="1">
              <a:lnSpc>
                <a:spcPts val="4160"/>
              </a:lnSpc>
              <a:buFont typeface="Arial"/>
              <a:buChar char="•"/>
            </a:pPr>
            <a:r>
              <a:rPr lang="en-US" b="true" sz="2600">
                <a:solidFill>
                  <a:srgbClr val="290606"/>
                </a:solidFill>
                <a:latin typeface="Telegraf Medium"/>
                <a:ea typeface="Telegraf Medium"/>
                <a:cs typeface="Telegraf Medium"/>
                <a:sym typeface="Telegraf Medium"/>
              </a:rPr>
              <a:t>Framework : Forec</a:t>
            </a:r>
            <a:r>
              <a:rPr lang="en-US" b="true" sz="2600">
                <a:solidFill>
                  <a:srgbClr val="290606"/>
                </a:solidFill>
                <a:latin typeface="Telegraf Medium"/>
                <a:ea typeface="Telegraf Medium"/>
                <a:cs typeface="Telegraf Medium"/>
                <a:sym typeface="Telegraf Medium"/>
              </a:rPr>
              <a:t>asterRecursive</a:t>
            </a:r>
          </a:p>
          <a:p>
            <a:pPr algn="l" marL="561341" indent="-280670" lvl="1">
              <a:lnSpc>
                <a:spcPts val="4160"/>
              </a:lnSpc>
              <a:buFont typeface="Arial"/>
              <a:buChar char="•"/>
            </a:pPr>
            <a:r>
              <a:rPr lang="en-US" b="true" sz="2600">
                <a:solidFill>
                  <a:srgbClr val="290606"/>
                </a:solidFill>
                <a:latin typeface="Telegraf Medium"/>
                <a:ea typeface="Telegraf Medium"/>
                <a:cs typeface="Telegraf Medium"/>
                <a:sym typeface="Telegraf Medium"/>
              </a:rPr>
              <a:t>Regressor : RandomForestRegressor</a:t>
            </a:r>
          </a:p>
          <a:p>
            <a:pPr algn="l" marL="561341" indent="-280670" lvl="1">
              <a:lnSpc>
                <a:spcPts val="4160"/>
              </a:lnSpc>
              <a:buFont typeface="Arial"/>
              <a:buChar char="•"/>
            </a:pPr>
            <a:r>
              <a:rPr lang="en-US" b="true" sz="2600">
                <a:solidFill>
                  <a:srgbClr val="290606"/>
                </a:solidFill>
                <a:latin typeface="Telegraf Medium"/>
                <a:ea typeface="Telegraf Medium"/>
                <a:cs typeface="Telegraf Medium"/>
                <a:sym typeface="Telegraf Medium"/>
              </a:rPr>
              <a:t>lags : 30</a:t>
            </a:r>
          </a:p>
          <a:p>
            <a:pPr algn="l" marL="561341" indent="-280670" lvl="1">
              <a:lnSpc>
                <a:spcPts val="4160"/>
              </a:lnSpc>
              <a:buFont typeface="Arial"/>
              <a:buChar char="•"/>
            </a:pPr>
            <a:r>
              <a:rPr lang="en-US" b="true" sz="2600">
                <a:solidFill>
                  <a:srgbClr val="290606"/>
                </a:solidFill>
                <a:latin typeface="Telegraf Medium"/>
                <a:ea typeface="Telegraf Medium"/>
                <a:cs typeface="Telegraf Medium"/>
                <a:sym typeface="Telegraf Medium"/>
              </a:rPr>
              <a:t>n_estimators : 500</a:t>
            </a:r>
          </a:p>
          <a:p>
            <a:pPr algn="l" marL="561341" indent="-280670" lvl="1">
              <a:lnSpc>
                <a:spcPts val="4160"/>
              </a:lnSpc>
              <a:buFont typeface="Arial"/>
              <a:buChar char="•"/>
            </a:pPr>
            <a:r>
              <a:rPr lang="en-US" b="true" sz="2600">
                <a:solidFill>
                  <a:srgbClr val="290606"/>
                </a:solidFill>
                <a:latin typeface="Telegraf Medium"/>
                <a:ea typeface="Telegraf Medium"/>
                <a:cs typeface="Telegraf Medium"/>
                <a:sym typeface="Telegraf Medium"/>
              </a:rPr>
              <a:t>random_state : 123</a:t>
            </a:r>
          </a:p>
          <a:p>
            <a:pPr algn="l" marL="561341" indent="-280670" lvl="1">
              <a:lnSpc>
                <a:spcPts val="4160"/>
              </a:lnSpc>
              <a:buFont typeface="Arial"/>
              <a:buChar char="•"/>
            </a:pPr>
            <a:r>
              <a:rPr lang="en-US" b="true" sz="2600">
                <a:solidFill>
                  <a:srgbClr val="290606"/>
                </a:solidFill>
                <a:latin typeface="Telegraf Medium"/>
                <a:ea typeface="Telegraf Medium"/>
                <a:cs typeface="Telegraf Medium"/>
                <a:sym typeface="Telegraf Medium"/>
              </a:rPr>
              <a:t>n_jobs : -1 (all cores)</a:t>
            </a:r>
          </a:p>
          <a:p>
            <a:pPr algn="l" marL="561341" indent="-280670" lvl="1">
              <a:lnSpc>
                <a:spcPts val="4160"/>
              </a:lnSpc>
              <a:buFont typeface="Arial"/>
              <a:buChar char="•"/>
            </a:pPr>
            <a:r>
              <a:rPr lang="en-US" b="true" sz="2600">
                <a:solidFill>
                  <a:srgbClr val="290606"/>
                </a:solidFill>
                <a:latin typeface="Telegraf Medium"/>
                <a:ea typeface="Telegraf Medium"/>
                <a:cs typeface="Telegraf Medium"/>
                <a:sym typeface="Telegraf Medium"/>
              </a:rPr>
              <a:t>Features : 155 var_Prev lags</a:t>
            </a:r>
          </a:p>
          <a:p>
            <a:pPr algn="l" marL="561341" indent="-280670" lvl="1">
              <a:lnSpc>
                <a:spcPts val="4160"/>
              </a:lnSpc>
              <a:buFont typeface="Arial"/>
              <a:buChar char="•"/>
            </a:pPr>
            <a:r>
              <a:rPr lang="en-US" b="true" sz="2600">
                <a:solidFill>
                  <a:srgbClr val="290606"/>
                </a:solidFill>
                <a:latin typeface="Telegraf Medium"/>
                <a:ea typeface="Telegraf Medium"/>
                <a:cs typeface="Telegraf Medium"/>
                <a:sym typeface="Telegraf Medium"/>
              </a:rPr>
              <a:t>Scaler : None (tree-based)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8249033" y="7839552"/>
            <a:ext cx="9475296" cy="2914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00"/>
              </a:lnSpc>
            </a:pPr>
            <a:r>
              <a:rPr lang="en-US" sz="2100" spc="102">
                <a:solidFill>
                  <a:srgbClr val="290606"/>
                </a:solidFill>
                <a:latin typeface="DM Sans"/>
                <a:ea typeface="DM Sans"/>
                <a:cs typeface="DM Sans"/>
                <a:sym typeface="DM Sans"/>
              </a:rPr>
              <a:t>actual vs Predicted daily gold price variation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813389" y="7577449"/>
            <a:ext cx="3001960" cy="2306026"/>
            <a:chOff x="0" y="0"/>
            <a:chExt cx="790640" cy="607348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790640" cy="607348"/>
            </a:xfrm>
            <a:custGeom>
              <a:avLst/>
              <a:gdLst/>
              <a:ahLst/>
              <a:cxnLst/>
              <a:rect r="r" b="b" t="t" l="l"/>
              <a:pathLst>
                <a:path h="607348" w="790640">
                  <a:moveTo>
                    <a:pt x="131527" y="0"/>
                  </a:moveTo>
                  <a:lnTo>
                    <a:pt x="659113" y="0"/>
                  </a:lnTo>
                  <a:cubicBezTo>
                    <a:pt x="731753" y="0"/>
                    <a:pt x="790640" y="58887"/>
                    <a:pt x="790640" y="131527"/>
                  </a:cubicBezTo>
                  <a:lnTo>
                    <a:pt x="790640" y="475822"/>
                  </a:lnTo>
                  <a:cubicBezTo>
                    <a:pt x="790640" y="548462"/>
                    <a:pt x="731753" y="607348"/>
                    <a:pt x="659113" y="607348"/>
                  </a:cubicBezTo>
                  <a:lnTo>
                    <a:pt x="131527" y="607348"/>
                  </a:lnTo>
                  <a:cubicBezTo>
                    <a:pt x="58887" y="607348"/>
                    <a:pt x="0" y="548462"/>
                    <a:pt x="0" y="475822"/>
                  </a:cubicBezTo>
                  <a:lnTo>
                    <a:pt x="0" y="131527"/>
                  </a:lnTo>
                  <a:cubicBezTo>
                    <a:pt x="0" y="58887"/>
                    <a:pt x="58887" y="0"/>
                    <a:pt x="131527" y="0"/>
                  </a:cubicBezTo>
                  <a:close/>
                </a:path>
              </a:pathLst>
            </a:custGeom>
            <a:solidFill>
              <a:srgbClr val="02B676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66675"/>
              <a:ext cx="790640" cy="67402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4166450" y="7577449"/>
            <a:ext cx="3001960" cy="2306026"/>
            <a:chOff x="0" y="0"/>
            <a:chExt cx="790640" cy="607348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790640" cy="607348"/>
            </a:xfrm>
            <a:custGeom>
              <a:avLst/>
              <a:gdLst/>
              <a:ahLst/>
              <a:cxnLst/>
              <a:rect r="r" b="b" t="t" l="l"/>
              <a:pathLst>
                <a:path h="607348" w="790640">
                  <a:moveTo>
                    <a:pt x="131527" y="0"/>
                  </a:moveTo>
                  <a:lnTo>
                    <a:pt x="659113" y="0"/>
                  </a:lnTo>
                  <a:cubicBezTo>
                    <a:pt x="731753" y="0"/>
                    <a:pt x="790640" y="58887"/>
                    <a:pt x="790640" y="131527"/>
                  </a:cubicBezTo>
                  <a:lnTo>
                    <a:pt x="790640" y="475822"/>
                  </a:lnTo>
                  <a:cubicBezTo>
                    <a:pt x="790640" y="548462"/>
                    <a:pt x="731753" y="607348"/>
                    <a:pt x="659113" y="607348"/>
                  </a:cubicBezTo>
                  <a:lnTo>
                    <a:pt x="131527" y="607348"/>
                  </a:lnTo>
                  <a:cubicBezTo>
                    <a:pt x="58887" y="607348"/>
                    <a:pt x="0" y="548462"/>
                    <a:pt x="0" y="475822"/>
                  </a:cubicBezTo>
                  <a:lnTo>
                    <a:pt x="0" y="131527"/>
                  </a:lnTo>
                  <a:cubicBezTo>
                    <a:pt x="0" y="58887"/>
                    <a:pt x="58887" y="0"/>
                    <a:pt x="131527" y="0"/>
                  </a:cubicBezTo>
                  <a:close/>
                </a:path>
              </a:pathLst>
            </a:custGeom>
            <a:solidFill>
              <a:srgbClr val="02B676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66675"/>
              <a:ext cx="790640" cy="67402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1500364" y="9062976"/>
            <a:ext cx="1628012" cy="5251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60"/>
              </a:lnSpc>
            </a:pPr>
            <a:r>
              <a:rPr lang="en-US" sz="2600" b="true">
                <a:solidFill>
                  <a:srgbClr val="FEC801"/>
                </a:solidFill>
                <a:latin typeface="Telegraf Medium"/>
                <a:ea typeface="Telegraf Medium"/>
                <a:cs typeface="Telegraf Medium"/>
                <a:sym typeface="Telegraf Medium"/>
              </a:rPr>
              <a:t>MAE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500364" y="7864317"/>
            <a:ext cx="1628012" cy="12369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239"/>
              </a:lnSpc>
            </a:pPr>
            <a:r>
              <a:rPr lang="en-US" sz="6399">
                <a:solidFill>
                  <a:srgbClr val="FEC801"/>
                </a:solidFill>
                <a:latin typeface="Bebas Neue"/>
                <a:ea typeface="Bebas Neue"/>
                <a:cs typeface="Bebas Neue"/>
                <a:sym typeface="Bebas Neue"/>
              </a:rPr>
              <a:t>47.14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4853424" y="9062976"/>
            <a:ext cx="1628012" cy="5251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60"/>
              </a:lnSpc>
            </a:pPr>
            <a:r>
              <a:rPr lang="en-US" sz="2600" b="true">
                <a:solidFill>
                  <a:srgbClr val="FEC801"/>
                </a:solidFill>
                <a:latin typeface="Telegraf Medium"/>
                <a:ea typeface="Telegraf Medium"/>
                <a:cs typeface="Telegraf Medium"/>
                <a:sym typeface="Telegraf Medium"/>
              </a:rPr>
              <a:t>RMSE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4853424" y="7864317"/>
            <a:ext cx="1628012" cy="12369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239"/>
              </a:lnSpc>
            </a:pPr>
            <a:r>
              <a:rPr lang="en-US" sz="6399">
                <a:solidFill>
                  <a:srgbClr val="FEC801"/>
                </a:solidFill>
                <a:latin typeface="Bebas Neue"/>
                <a:ea typeface="Bebas Neue"/>
                <a:cs typeface="Bebas Neue"/>
                <a:sym typeface="Bebas Neue"/>
              </a:rPr>
              <a:t>61.13</a:t>
            </a:r>
          </a:p>
        </p:txBody>
      </p:sp>
      <p:sp>
        <p:nvSpPr>
          <p:cNvPr name="Freeform 18" id="18"/>
          <p:cNvSpPr/>
          <p:nvPr/>
        </p:nvSpPr>
        <p:spPr>
          <a:xfrm flipH="false" flipV="false" rot="0">
            <a:off x="6969343" y="2843140"/>
            <a:ext cx="11301259" cy="4534630"/>
          </a:xfrm>
          <a:custGeom>
            <a:avLst/>
            <a:gdLst/>
            <a:ahLst/>
            <a:cxnLst/>
            <a:rect r="r" b="b" t="t" l="l"/>
            <a:pathLst>
              <a:path h="4534630" w="11301259">
                <a:moveTo>
                  <a:pt x="0" y="0"/>
                </a:moveTo>
                <a:lnTo>
                  <a:pt x="11301259" y="0"/>
                </a:lnTo>
                <a:lnTo>
                  <a:pt x="11301259" y="4534631"/>
                </a:lnTo>
                <a:lnTo>
                  <a:pt x="0" y="453463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EF4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53033" y="3142425"/>
            <a:ext cx="5708365" cy="3639204"/>
            <a:chOff x="0" y="0"/>
            <a:chExt cx="1503438" cy="95847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503438" cy="958473"/>
            </a:xfrm>
            <a:custGeom>
              <a:avLst/>
              <a:gdLst/>
              <a:ahLst/>
              <a:cxnLst/>
              <a:rect r="r" b="b" t="t" l="l"/>
              <a:pathLst>
                <a:path h="958473" w="1503438">
                  <a:moveTo>
                    <a:pt x="69168" y="0"/>
                  </a:moveTo>
                  <a:lnTo>
                    <a:pt x="1434270" y="0"/>
                  </a:lnTo>
                  <a:cubicBezTo>
                    <a:pt x="1472470" y="0"/>
                    <a:pt x="1503438" y="30968"/>
                    <a:pt x="1503438" y="69168"/>
                  </a:cubicBezTo>
                  <a:lnTo>
                    <a:pt x="1503438" y="889305"/>
                  </a:lnTo>
                  <a:cubicBezTo>
                    <a:pt x="1503438" y="927506"/>
                    <a:pt x="1472470" y="958473"/>
                    <a:pt x="1434270" y="958473"/>
                  </a:cubicBezTo>
                  <a:lnTo>
                    <a:pt x="69168" y="958473"/>
                  </a:lnTo>
                  <a:cubicBezTo>
                    <a:pt x="50824" y="958473"/>
                    <a:pt x="33230" y="951186"/>
                    <a:pt x="20259" y="938214"/>
                  </a:cubicBezTo>
                  <a:cubicBezTo>
                    <a:pt x="7287" y="925243"/>
                    <a:pt x="0" y="907650"/>
                    <a:pt x="0" y="889305"/>
                  </a:cubicBezTo>
                  <a:lnTo>
                    <a:pt x="0" y="69168"/>
                  </a:lnTo>
                  <a:cubicBezTo>
                    <a:pt x="0" y="30968"/>
                    <a:pt x="30968" y="0"/>
                    <a:pt x="69168" y="0"/>
                  </a:cubicBezTo>
                  <a:close/>
                </a:path>
              </a:pathLst>
            </a:custGeom>
            <a:solidFill>
              <a:srgbClr val="02B676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66675"/>
              <a:ext cx="1503438" cy="102514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028700" y="737339"/>
            <a:ext cx="9665396" cy="1073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99"/>
              </a:lnSpc>
            </a:pPr>
            <a:r>
              <a:rPr lang="en-US" sz="6999" spc="342">
                <a:solidFill>
                  <a:srgbClr val="290606"/>
                </a:solidFill>
                <a:latin typeface="Cheddar"/>
                <a:ea typeface="Cheddar"/>
                <a:cs typeface="Cheddar"/>
                <a:sym typeface="Cheddar"/>
              </a:rPr>
              <a:t>LINEAR REGRESSION MODEL 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282207" y="3191012"/>
            <a:ext cx="4971718" cy="34372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40"/>
              </a:lnSpc>
            </a:pPr>
            <a:r>
              <a:rPr lang="en-US" sz="1900" b="true">
                <a:solidFill>
                  <a:srgbClr val="FEC801"/>
                </a:solidFill>
                <a:latin typeface="Telegraf Medium"/>
                <a:ea typeface="Telegraf Medium"/>
                <a:cs typeface="Telegraf Medium"/>
                <a:sym typeface="Telegraf Medium"/>
              </a:rPr>
              <a:t>Optimal Configuration</a:t>
            </a:r>
          </a:p>
          <a:p>
            <a:pPr algn="l" marL="410214" indent="-205107" lvl="1">
              <a:lnSpc>
                <a:spcPts val="3040"/>
              </a:lnSpc>
              <a:buFont typeface="Arial"/>
              <a:buChar char="•"/>
            </a:pPr>
            <a:r>
              <a:rPr lang="en-US" b="true" sz="1900">
                <a:solidFill>
                  <a:srgbClr val="290606"/>
                </a:solidFill>
                <a:latin typeface="Telegraf Medium"/>
                <a:ea typeface="Telegraf Medium"/>
                <a:cs typeface="Telegraf Medium"/>
                <a:sym typeface="Telegraf Medium"/>
              </a:rPr>
              <a:t>Cl</a:t>
            </a:r>
            <a:r>
              <a:rPr lang="en-US" b="true" sz="1900">
                <a:solidFill>
                  <a:srgbClr val="290606"/>
                </a:solidFill>
                <a:latin typeface="Telegraf Medium"/>
                <a:ea typeface="Telegraf Medium"/>
                <a:cs typeface="Telegraf Medium"/>
                <a:sym typeface="Telegraf Medium"/>
              </a:rPr>
              <a:t>ass : MLPRegressor</a:t>
            </a:r>
          </a:p>
          <a:p>
            <a:pPr algn="l" marL="410214" indent="-205107" lvl="1">
              <a:lnSpc>
                <a:spcPts val="3040"/>
              </a:lnSpc>
              <a:buFont typeface="Arial"/>
              <a:buChar char="•"/>
            </a:pPr>
            <a:r>
              <a:rPr lang="en-US" b="true" sz="1900">
                <a:solidFill>
                  <a:srgbClr val="290606"/>
                </a:solidFill>
                <a:latin typeface="Telegraf Medium"/>
                <a:ea typeface="Telegraf Medium"/>
                <a:cs typeface="Telegraf Medium"/>
                <a:sym typeface="Telegraf Medium"/>
              </a:rPr>
              <a:t>hidden_layer_sizes : (256, 128, 64)</a:t>
            </a:r>
          </a:p>
          <a:p>
            <a:pPr algn="l" marL="410214" indent="-205107" lvl="1">
              <a:lnSpc>
                <a:spcPts val="3040"/>
              </a:lnSpc>
              <a:buFont typeface="Arial"/>
              <a:buChar char="•"/>
            </a:pPr>
            <a:r>
              <a:rPr lang="en-US" b="true" sz="1900">
                <a:solidFill>
                  <a:srgbClr val="290606"/>
                </a:solidFill>
                <a:latin typeface="Telegraf Medium"/>
                <a:ea typeface="Telegraf Medium"/>
                <a:cs typeface="Telegraf Medium"/>
                <a:sym typeface="Telegraf Medium"/>
              </a:rPr>
              <a:t>activation : relu</a:t>
            </a:r>
          </a:p>
          <a:p>
            <a:pPr algn="l" marL="410214" indent="-205107" lvl="1">
              <a:lnSpc>
                <a:spcPts val="3040"/>
              </a:lnSpc>
              <a:buFont typeface="Arial"/>
              <a:buChar char="•"/>
            </a:pPr>
            <a:r>
              <a:rPr lang="en-US" b="true" sz="1900">
                <a:solidFill>
                  <a:srgbClr val="290606"/>
                </a:solidFill>
                <a:latin typeface="Telegraf Medium"/>
                <a:ea typeface="Telegraf Medium"/>
                <a:cs typeface="Telegraf Medium"/>
                <a:sym typeface="Telegraf Medium"/>
              </a:rPr>
              <a:t>max_iter : 1000</a:t>
            </a:r>
          </a:p>
          <a:p>
            <a:pPr algn="l" marL="410214" indent="-205107" lvl="1">
              <a:lnSpc>
                <a:spcPts val="3040"/>
              </a:lnSpc>
              <a:buFont typeface="Arial"/>
              <a:buChar char="•"/>
            </a:pPr>
            <a:r>
              <a:rPr lang="en-US" b="true" sz="1900">
                <a:solidFill>
                  <a:srgbClr val="290606"/>
                </a:solidFill>
                <a:latin typeface="Telegraf Medium"/>
                <a:ea typeface="Telegraf Medium"/>
                <a:cs typeface="Telegraf Medium"/>
                <a:sym typeface="Telegraf Medium"/>
              </a:rPr>
              <a:t>early_stopping : True</a:t>
            </a:r>
          </a:p>
          <a:p>
            <a:pPr algn="l" marL="410214" indent="-205107" lvl="1">
              <a:lnSpc>
                <a:spcPts val="3040"/>
              </a:lnSpc>
              <a:buFont typeface="Arial"/>
              <a:buChar char="•"/>
            </a:pPr>
            <a:r>
              <a:rPr lang="en-US" b="true" sz="1900">
                <a:solidFill>
                  <a:srgbClr val="290606"/>
                </a:solidFill>
                <a:latin typeface="Telegraf Medium"/>
                <a:ea typeface="Telegraf Medium"/>
                <a:cs typeface="Telegraf Medium"/>
                <a:sym typeface="Telegraf Medium"/>
              </a:rPr>
              <a:t>validation_fraction : 0.1</a:t>
            </a:r>
          </a:p>
          <a:p>
            <a:pPr algn="l" marL="410214" indent="-205107" lvl="1">
              <a:lnSpc>
                <a:spcPts val="3040"/>
              </a:lnSpc>
              <a:buFont typeface="Arial"/>
              <a:buChar char="•"/>
            </a:pPr>
            <a:r>
              <a:rPr lang="en-US" b="true" sz="1900">
                <a:solidFill>
                  <a:srgbClr val="290606"/>
                </a:solidFill>
                <a:latin typeface="Telegraf Medium"/>
                <a:ea typeface="Telegraf Medium"/>
                <a:cs typeface="Telegraf Medium"/>
                <a:sym typeface="Telegraf Medium"/>
              </a:rPr>
              <a:t>n_iter_no_change : 20</a:t>
            </a:r>
          </a:p>
          <a:p>
            <a:pPr algn="l" marL="410214" indent="-205107" lvl="1">
              <a:lnSpc>
                <a:spcPts val="3040"/>
              </a:lnSpc>
              <a:buFont typeface="Arial"/>
              <a:buChar char="•"/>
            </a:pPr>
            <a:r>
              <a:rPr lang="en-US" b="true" sz="1900">
                <a:solidFill>
                  <a:srgbClr val="290606"/>
                </a:solidFill>
                <a:latin typeface="Telegraf Medium"/>
                <a:ea typeface="Telegraf Medium"/>
                <a:cs typeface="Telegraf Medium"/>
                <a:sym typeface="Telegraf Medium"/>
              </a:rPr>
              <a:t>Scaler : StandardScaler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7784004" y="6650183"/>
            <a:ext cx="9475296" cy="2914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00"/>
              </a:lnSpc>
            </a:pPr>
            <a:r>
              <a:rPr lang="en-US" sz="2100" spc="102">
                <a:solidFill>
                  <a:srgbClr val="290606"/>
                </a:solidFill>
                <a:latin typeface="DM Sans"/>
                <a:ea typeface="DM Sans"/>
                <a:cs typeface="DM Sans"/>
                <a:sym typeface="DM Sans"/>
              </a:rPr>
              <a:t>actual vs Predicted daily gold price variation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4606494" y="7398848"/>
            <a:ext cx="3001960" cy="2306026"/>
            <a:chOff x="0" y="0"/>
            <a:chExt cx="790640" cy="607348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790640" cy="607348"/>
            </a:xfrm>
            <a:custGeom>
              <a:avLst/>
              <a:gdLst/>
              <a:ahLst/>
              <a:cxnLst/>
              <a:rect r="r" b="b" t="t" l="l"/>
              <a:pathLst>
                <a:path h="607348" w="790640">
                  <a:moveTo>
                    <a:pt x="131527" y="0"/>
                  </a:moveTo>
                  <a:lnTo>
                    <a:pt x="659113" y="0"/>
                  </a:lnTo>
                  <a:cubicBezTo>
                    <a:pt x="731753" y="0"/>
                    <a:pt x="790640" y="58887"/>
                    <a:pt x="790640" y="131527"/>
                  </a:cubicBezTo>
                  <a:lnTo>
                    <a:pt x="790640" y="475822"/>
                  </a:lnTo>
                  <a:cubicBezTo>
                    <a:pt x="790640" y="548462"/>
                    <a:pt x="731753" y="607348"/>
                    <a:pt x="659113" y="607348"/>
                  </a:cubicBezTo>
                  <a:lnTo>
                    <a:pt x="131527" y="607348"/>
                  </a:lnTo>
                  <a:cubicBezTo>
                    <a:pt x="58887" y="607348"/>
                    <a:pt x="0" y="548462"/>
                    <a:pt x="0" y="475822"/>
                  </a:cubicBezTo>
                  <a:lnTo>
                    <a:pt x="0" y="131527"/>
                  </a:lnTo>
                  <a:cubicBezTo>
                    <a:pt x="0" y="58887"/>
                    <a:pt x="58887" y="0"/>
                    <a:pt x="131527" y="0"/>
                  </a:cubicBezTo>
                  <a:close/>
                </a:path>
              </a:pathLst>
            </a:custGeom>
            <a:solidFill>
              <a:srgbClr val="02B676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66675"/>
              <a:ext cx="790640" cy="67402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7959555" y="7398848"/>
            <a:ext cx="3001960" cy="2306026"/>
            <a:chOff x="0" y="0"/>
            <a:chExt cx="790640" cy="607348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790640" cy="607348"/>
            </a:xfrm>
            <a:custGeom>
              <a:avLst/>
              <a:gdLst/>
              <a:ahLst/>
              <a:cxnLst/>
              <a:rect r="r" b="b" t="t" l="l"/>
              <a:pathLst>
                <a:path h="607348" w="790640">
                  <a:moveTo>
                    <a:pt x="131527" y="0"/>
                  </a:moveTo>
                  <a:lnTo>
                    <a:pt x="659113" y="0"/>
                  </a:lnTo>
                  <a:cubicBezTo>
                    <a:pt x="731753" y="0"/>
                    <a:pt x="790640" y="58887"/>
                    <a:pt x="790640" y="131527"/>
                  </a:cubicBezTo>
                  <a:lnTo>
                    <a:pt x="790640" y="475822"/>
                  </a:lnTo>
                  <a:cubicBezTo>
                    <a:pt x="790640" y="548462"/>
                    <a:pt x="731753" y="607348"/>
                    <a:pt x="659113" y="607348"/>
                  </a:cubicBezTo>
                  <a:lnTo>
                    <a:pt x="131527" y="607348"/>
                  </a:lnTo>
                  <a:cubicBezTo>
                    <a:pt x="58887" y="607348"/>
                    <a:pt x="0" y="548462"/>
                    <a:pt x="0" y="475822"/>
                  </a:cubicBezTo>
                  <a:lnTo>
                    <a:pt x="0" y="131527"/>
                  </a:lnTo>
                  <a:cubicBezTo>
                    <a:pt x="0" y="58887"/>
                    <a:pt x="58887" y="0"/>
                    <a:pt x="131527" y="0"/>
                  </a:cubicBezTo>
                  <a:close/>
                </a:path>
              </a:pathLst>
            </a:custGeom>
            <a:solidFill>
              <a:srgbClr val="02B676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66675"/>
              <a:ext cx="790640" cy="67402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5293468" y="8884375"/>
            <a:ext cx="1628012" cy="5251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60"/>
              </a:lnSpc>
            </a:pPr>
            <a:r>
              <a:rPr lang="en-US" sz="2600" b="true">
                <a:solidFill>
                  <a:srgbClr val="FEC801"/>
                </a:solidFill>
                <a:latin typeface="Telegraf Medium"/>
                <a:ea typeface="Telegraf Medium"/>
                <a:cs typeface="Telegraf Medium"/>
                <a:sym typeface="Telegraf Medium"/>
              </a:rPr>
              <a:t>MAE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5293468" y="7685716"/>
            <a:ext cx="1628012" cy="12369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239"/>
              </a:lnSpc>
            </a:pPr>
            <a:r>
              <a:rPr lang="en-US" sz="6399">
                <a:solidFill>
                  <a:srgbClr val="FEC801"/>
                </a:solidFill>
                <a:latin typeface="Bebas Neue"/>
                <a:ea typeface="Bebas Neue"/>
                <a:cs typeface="Bebas Neue"/>
                <a:sym typeface="Bebas Neue"/>
              </a:rPr>
              <a:t>48.10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8646529" y="8884375"/>
            <a:ext cx="1628012" cy="5251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60"/>
              </a:lnSpc>
            </a:pPr>
            <a:r>
              <a:rPr lang="en-US" sz="2600" b="true">
                <a:solidFill>
                  <a:srgbClr val="FEC801"/>
                </a:solidFill>
                <a:latin typeface="Telegraf Medium"/>
                <a:ea typeface="Telegraf Medium"/>
                <a:cs typeface="Telegraf Medium"/>
                <a:sym typeface="Telegraf Medium"/>
              </a:rPr>
              <a:t>RMSE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8646529" y="7685716"/>
            <a:ext cx="1628012" cy="12369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239"/>
              </a:lnSpc>
            </a:pPr>
            <a:r>
              <a:rPr lang="en-US" sz="6399">
                <a:solidFill>
                  <a:srgbClr val="FEC801"/>
                </a:solidFill>
                <a:latin typeface="Bebas Neue"/>
                <a:ea typeface="Bebas Neue"/>
                <a:cs typeface="Bebas Neue"/>
                <a:sym typeface="Bebas Neue"/>
              </a:rPr>
              <a:t>61.55</a:t>
            </a:r>
          </a:p>
        </p:txBody>
      </p:sp>
      <p:sp>
        <p:nvSpPr>
          <p:cNvPr name="Freeform 18" id="18"/>
          <p:cNvSpPr/>
          <p:nvPr/>
        </p:nvSpPr>
        <p:spPr>
          <a:xfrm flipH="false" flipV="false" rot="0">
            <a:off x="6111175" y="3067535"/>
            <a:ext cx="12176825" cy="3252869"/>
          </a:xfrm>
          <a:custGeom>
            <a:avLst/>
            <a:gdLst/>
            <a:ahLst/>
            <a:cxnLst/>
            <a:rect r="r" b="b" t="t" l="l"/>
            <a:pathLst>
              <a:path h="3252869" w="12176825">
                <a:moveTo>
                  <a:pt x="0" y="0"/>
                </a:moveTo>
                <a:lnTo>
                  <a:pt x="12176825" y="0"/>
                </a:lnTo>
                <a:lnTo>
                  <a:pt x="12176825" y="3252868"/>
                </a:lnTo>
                <a:lnTo>
                  <a:pt x="0" y="325286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713" r="0" b="-713"/>
            </a:stretch>
          </a:blipFill>
        </p:spPr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EF4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40629" y="2525993"/>
            <a:ext cx="5226801" cy="4889520"/>
            <a:chOff x="0" y="0"/>
            <a:chExt cx="1376606" cy="128777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376606" cy="1287775"/>
            </a:xfrm>
            <a:custGeom>
              <a:avLst/>
              <a:gdLst/>
              <a:ahLst/>
              <a:cxnLst/>
              <a:rect r="r" b="b" t="t" l="l"/>
              <a:pathLst>
                <a:path h="1287775" w="1376606">
                  <a:moveTo>
                    <a:pt x="75541" y="0"/>
                  </a:moveTo>
                  <a:lnTo>
                    <a:pt x="1301065" y="0"/>
                  </a:lnTo>
                  <a:cubicBezTo>
                    <a:pt x="1342785" y="0"/>
                    <a:pt x="1376606" y="33821"/>
                    <a:pt x="1376606" y="75541"/>
                  </a:cubicBezTo>
                  <a:lnTo>
                    <a:pt x="1376606" y="1212234"/>
                  </a:lnTo>
                  <a:cubicBezTo>
                    <a:pt x="1376606" y="1253954"/>
                    <a:pt x="1342785" y="1287775"/>
                    <a:pt x="1301065" y="1287775"/>
                  </a:cubicBezTo>
                  <a:lnTo>
                    <a:pt x="75541" y="1287775"/>
                  </a:lnTo>
                  <a:cubicBezTo>
                    <a:pt x="33821" y="1287775"/>
                    <a:pt x="0" y="1253954"/>
                    <a:pt x="0" y="1212234"/>
                  </a:cubicBezTo>
                  <a:lnTo>
                    <a:pt x="0" y="75541"/>
                  </a:lnTo>
                  <a:cubicBezTo>
                    <a:pt x="0" y="33821"/>
                    <a:pt x="33821" y="0"/>
                    <a:pt x="75541" y="0"/>
                  </a:cubicBezTo>
                  <a:close/>
                </a:path>
              </a:pathLst>
            </a:custGeom>
            <a:solidFill>
              <a:srgbClr val="02B676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66675"/>
              <a:ext cx="1376606" cy="13544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028700" y="737339"/>
            <a:ext cx="9665396" cy="1073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99"/>
              </a:lnSpc>
            </a:pPr>
            <a:r>
              <a:rPr lang="en-US" sz="6999" spc="342">
                <a:solidFill>
                  <a:srgbClr val="290606"/>
                </a:solidFill>
                <a:latin typeface="Cheddar"/>
                <a:ea typeface="Cheddar"/>
                <a:cs typeface="Cheddar"/>
                <a:sym typeface="Cheddar"/>
              </a:rPr>
              <a:t>FORECASTER PERFORMANCE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569803" y="2737468"/>
            <a:ext cx="5097627" cy="43472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80"/>
              </a:lnSpc>
            </a:pPr>
            <a:r>
              <a:rPr lang="en-US" sz="1800" b="true">
                <a:solidFill>
                  <a:srgbClr val="FEC801"/>
                </a:solidFill>
                <a:latin typeface="Telegraf Medium"/>
                <a:ea typeface="Telegraf Medium"/>
                <a:cs typeface="Telegraf Medium"/>
                <a:sym typeface="Telegraf Medium"/>
              </a:rPr>
              <a:t>Optimal Configuration</a:t>
            </a:r>
          </a:p>
          <a:p>
            <a:pPr algn="l" marL="388620" indent="-194310" lvl="1">
              <a:lnSpc>
                <a:spcPts val="2880"/>
              </a:lnSpc>
              <a:buFont typeface="Arial"/>
              <a:buChar char="•"/>
            </a:pPr>
            <a:r>
              <a:rPr lang="en-US" b="true" sz="1800">
                <a:solidFill>
                  <a:srgbClr val="290606"/>
                </a:solidFill>
                <a:latin typeface="Telegraf Medium"/>
                <a:ea typeface="Telegraf Medium"/>
                <a:cs typeface="Telegraf Medium"/>
                <a:sym typeface="Telegraf Medium"/>
              </a:rPr>
              <a:t>Archit</a:t>
            </a:r>
            <a:r>
              <a:rPr lang="en-US" b="true" sz="1800">
                <a:solidFill>
                  <a:srgbClr val="290606"/>
                </a:solidFill>
                <a:latin typeface="Telegraf Medium"/>
                <a:ea typeface="Telegraf Medium"/>
                <a:cs typeface="Telegraf Medium"/>
                <a:sym typeface="Telegraf Medium"/>
              </a:rPr>
              <a:t>ecture : LSTM(128)→LSTM(64)</a:t>
            </a:r>
          </a:p>
          <a:p>
            <a:pPr algn="l" marL="388620" indent="-194310" lvl="1">
              <a:lnSpc>
                <a:spcPts val="2880"/>
              </a:lnSpc>
              <a:buFont typeface="Arial"/>
              <a:buChar char="•"/>
            </a:pPr>
            <a:r>
              <a:rPr lang="en-US" b="true" sz="1800">
                <a:solidFill>
                  <a:srgbClr val="290606"/>
                </a:solidFill>
                <a:latin typeface="Telegraf Medium"/>
                <a:ea typeface="Telegraf Medium"/>
                <a:cs typeface="Telegraf Medium"/>
                <a:sym typeface="Telegraf Medium"/>
              </a:rPr>
              <a:t>Output layers : Dense(25)→Dense(1)</a:t>
            </a:r>
          </a:p>
          <a:p>
            <a:pPr algn="l" marL="388620" indent="-194310" lvl="1">
              <a:lnSpc>
                <a:spcPts val="2880"/>
              </a:lnSpc>
              <a:buFont typeface="Arial"/>
              <a:buChar char="•"/>
            </a:pPr>
            <a:r>
              <a:rPr lang="en-US" b="true" sz="1800">
                <a:solidFill>
                  <a:srgbClr val="290606"/>
                </a:solidFill>
                <a:latin typeface="Telegraf Medium"/>
                <a:ea typeface="Telegraf Medium"/>
                <a:cs typeface="Telegraf Medium"/>
                <a:sym typeface="Telegraf Medium"/>
              </a:rPr>
              <a:t>return_sequences : True (1st), False (2nd)</a:t>
            </a:r>
          </a:p>
          <a:p>
            <a:pPr algn="l" marL="388620" indent="-194310" lvl="1">
              <a:lnSpc>
                <a:spcPts val="2880"/>
              </a:lnSpc>
              <a:buFont typeface="Arial"/>
              <a:buChar char="•"/>
            </a:pPr>
            <a:r>
              <a:rPr lang="en-US" b="true" sz="1800">
                <a:solidFill>
                  <a:srgbClr val="290606"/>
                </a:solidFill>
                <a:latin typeface="Telegraf Medium"/>
                <a:ea typeface="Telegraf Medium"/>
                <a:cs typeface="Telegraf Medium"/>
                <a:sym typeface="Telegraf Medium"/>
              </a:rPr>
              <a:t>Optimizer : Adam</a:t>
            </a:r>
          </a:p>
          <a:p>
            <a:pPr algn="l" marL="388620" indent="-194310" lvl="1">
              <a:lnSpc>
                <a:spcPts val="2880"/>
              </a:lnSpc>
              <a:buFont typeface="Arial"/>
              <a:buChar char="•"/>
            </a:pPr>
            <a:r>
              <a:rPr lang="en-US" b="true" sz="1800">
                <a:solidFill>
                  <a:srgbClr val="290606"/>
                </a:solidFill>
                <a:latin typeface="Telegraf Medium"/>
                <a:ea typeface="Telegraf Medium"/>
                <a:cs typeface="Telegraf Medium"/>
                <a:sym typeface="Telegraf Medium"/>
              </a:rPr>
              <a:t>Loss : MSE</a:t>
            </a:r>
          </a:p>
          <a:p>
            <a:pPr algn="l" marL="388620" indent="-194310" lvl="1">
              <a:lnSpc>
                <a:spcPts val="2880"/>
              </a:lnSpc>
              <a:buFont typeface="Arial"/>
              <a:buChar char="•"/>
            </a:pPr>
            <a:r>
              <a:rPr lang="en-US" b="true" sz="1800">
                <a:solidFill>
                  <a:srgbClr val="290606"/>
                </a:solidFill>
                <a:latin typeface="Telegraf Medium"/>
                <a:ea typeface="Telegraf Medium"/>
                <a:cs typeface="Telegraf Medium"/>
                <a:sym typeface="Telegraf Medium"/>
              </a:rPr>
              <a:t>Lookback window : 60 days</a:t>
            </a:r>
          </a:p>
          <a:p>
            <a:pPr algn="l" marL="388620" indent="-194310" lvl="1">
              <a:lnSpc>
                <a:spcPts val="2880"/>
              </a:lnSpc>
              <a:buFont typeface="Arial"/>
              <a:buChar char="•"/>
            </a:pPr>
            <a:r>
              <a:rPr lang="en-US" b="true" sz="1800">
                <a:solidFill>
                  <a:srgbClr val="290606"/>
                </a:solidFill>
                <a:latin typeface="Telegraf Medium"/>
                <a:ea typeface="Telegraf Medium"/>
                <a:cs typeface="Telegraf Medium"/>
                <a:sym typeface="Telegraf Medium"/>
              </a:rPr>
              <a:t>Epochs : 100 (max)</a:t>
            </a:r>
          </a:p>
          <a:p>
            <a:pPr algn="l" marL="388620" indent="-194310" lvl="1">
              <a:lnSpc>
                <a:spcPts val="2880"/>
              </a:lnSpc>
              <a:buFont typeface="Arial"/>
              <a:buChar char="•"/>
            </a:pPr>
            <a:r>
              <a:rPr lang="en-US" b="true" sz="1800">
                <a:solidFill>
                  <a:srgbClr val="290606"/>
                </a:solidFill>
                <a:latin typeface="Telegraf Medium"/>
                <a:ea typeface="Telegraf Medium"/>
                <a:cs typeface="Telegraf Medium"/>
                <a:sym typeface="Telegraf Medium"/>
              </a:rPr>
              <a:t>Batch size : 32</a:t>
            </a:r>
          </a:p>
          <a:p>
            <a:pPr algn="l" marL="388620" indent="-194310" lvl="1">
              <a:lnSpc>
                <a:spcPts val="2880"/>
              </a:lnSpc>
              <a:buFont typeface="Arial"/>
              <a:buChar char="•"/>
            </a:pPr>
            <a:r>
              <a:rPr lang="en-US" b="true" sz="1800">
                <a:solidFill>
                  <a:srgbClr val="290606"/>
                </a:solidFill>
                <a:latin typeface="Telegraf Medium"/>
                <a:ea typeface="Telegraf Medium"/>
                <a:cs typeface="Telegraf Medium"/>
                <a:sym typeface="Telegraf Medium"/>
              </a:rPr>
              <a:t>EarlyStopping patience : 10</a:t>
            </a:r>
          </a:p>
          <a:p>
            <a:pPr algn="l" marL="388620" indent="-194310" lvl="1">
              <a:lnSpc>
                <a:spcPts val="2880"/>
              </a:lnSpc>
              <a:buFont typeface="Arial"/>
              <a:buChar char="•"/>
            </a:pPr>
            <a:r>
              <a:rPr lang="en-US" b="true" sz="1800">
                <a:solidFill>
                  <a:srgbClr val="290606"/>
                </a:solidFill>
                <a:latin typeface="Telegraf Medium"/>
                <a:ea typeface="Telegraf Medium"/>
                <a:cs typeface="Telegraf Medium"/>
                <a:sym typeface="Telegraf Medium"/>
              </a:rPr>
              <a:t>val_split : 0.1</a:t>
            </a:r>
          </a:p>
          <a:p>
            <a:pPr algn="l" marL="388620" indent="-194310" lvl="1">
              <a:lnSpc>
                <a:spcPts val="2880"/>
              </a:lnSpc>
              <a:buFont typeface="Arial"/>
              <a:buChar char="•"/>
            </a:pPr>
            <a:r>
              <a:rPr lang="en-US" b="true" sz="1800">
                <a:solidFill>
                  <a:srgbClr val="290606"/>
                </a:solidFill>
                <a:latin typeface="Telegraf Medium"/>
                <a:ea typeface="Telegraf Medium"/>
                <a:cs typeface="Telegraf Medium"/>
                <a:sym typeface="Telegraf Medium"/>
              </a:rPr>
              <a:t>Scaler : MinMaxScaler (0,1)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8131602" y="8438997"/>
            <a:ext cx="9475296" cy="2914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00"/>
              </a:lnSpc>
            </a:pPr>
            <a:r>
              <a:rPr lang="en-US" sz="2100" spc="102">
                <a:solidFill>
                  <a:srgbClr val="290606"/>
                </a:solidFill>
                <a:latin typeface="DM Sans"/>
                <a:ea typeface="DM Sans"/>
                <a:cs typeface="DM Sans"/>
                <a:sym typeface="DM Sans"/>
              </a:rPr>
              <a:t>actual vs Predicted daily gold price variation (main forecaster)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813389" y="7577449"/>
            <a:ext cx="3001960" cy="2306026"/>
            <a:chOff x="0" y="0"/>
            <a:chExt cx="790640" cy="607348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790640" cy="607348"/>
            </a:xfrm>
            <a:custGeom>
              <a:avLst/>
              <a:gdLst/>
              <a:ahLst/>
              <a:cxnLst/>
              <a:rect r="r" b="b" t="t" l="l"/>
              <a:pathLst>
                <a:path h="607348" w="790640">
                  <a:moveTo>
                    <a:pt x="131527" y="0"/>
                  </a:moveTo>
                  <a:lnTo>
                    <a:pt x="659113" y="0"/>
                  </a:lnTo>
                  <a:cubicBezTo>
                    <a:pt x="731753" y="0"/>
                    <a:pt x="790640" y="58887"/>
                    <a:pt x="790640" y="131527"/>
                  </a:cubicBezTo>
                  <a:lnTo>
                    <a:pt x="790640" y="475822"/>
                  </a:lnTo>
                  <a:cubicBezTo>
                    <a:pt x="790640" y="548462"/>
                    <a:pt x="731753" y="607348"/>
                    <a:pt x="659113" y="607348"/>
                  </a:cubicBezTo>
                  <a:lnTo>
                    <a:pt x="131527" y="607348"/>
                  </a:lnTo>
                  <a:cubicBezTo>
                    <a:pt x="58887" y="607348"/>
                    <a:pt x="0" y="548462"/>
                    <a:pt x="0" y="475822"/>
                  </a:cubicBezTo>
                  <a:lnTo>
                    <a:pt x="0" y="131527"/>
                  </a:lnTo>
                  <a:cubicBezTo>
                    <a:pt x="0" y="58887"/>
                    <a:pt x="58887" y="0"/>
                    <a:pt x="131527" y="0"/>
                  </a:cubicBezTo>
                  <a:close/>
                </a:path>
              </a:pathLst>
            </a:custGeom>
            <a:solidFill>
              <a:srgbClr val="02B676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66675"/>
              <a:ext cx="790640" cy="67402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4166450" y="7577449"/>
            <a:ext cx="3001960" cy="2306026"/>
            <a:chOff x="0" y="0"/>
            <a:chExt cx="790640" cy="607348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790640" cy="607348"/>
            </a:xfrm>
            <a:custGeom>
              <a:avLst/>
              <a:gdLst/>
              <a:ahLst/>
              <a:cxnLst/>
              <a:rect r="r" b="b" t="t" l="l"/>
              <a:pathLst>
                <a:path h="607348" w="790640">
                  <a:moveTo>
                    <a:pt x="131527" y="0"/>
                  </a:moveTo>
                  <a:lnTo>
                    <a:pt x="659113" y="0"/>
                  </a:lnTo>
                  <a:cubicBezTo>
                    <a:pt x="731753" y="0"/>
                    <a:pt x="790640" y="58887"/>
                    <a:pt x="790640" y="131527"/>
                  </a:cubicBezTo>
                  <a:lnTo>
                    <a:pt x="790640" y="475822"/>
                  </a:lnTo>
                  <a:cubicBezTo>
                    <a:pt x="790640" y="548462"/>
                    <a:pt x="731753" y="607348"/>
                    <a:pt x="659113" y="607348"/>
                  </a:cubicBezTo>
                  <a:lnTo>
                    <a:pt x="131527" y="607348"/>
                  </a:lnTo>
                  <a:cubicBezTo>
                    <a:pt x="58887" y="607348"/>
                    <a:pt x="0" y="548462"/>
                    <a:pt x="0" y="475822"/>
                  </a:cubicBezTo>
                  <a:lnTo>
                    <a:pt x="0" y="131527"/>
                  </a:lnTo>
                  <a:cubicBezTo>
                    <a:pt x="0" y="58887"/>
                    <a:pt x="58887" y="0"/>
                    <a:pt x="131527" y="0"/>
                  </a:cubicBezTo>
                  <a:close/>
                </a:path>
              </a:pathLst>
            </a:custGeom>
            <a:solidFill>
              <a:srgbClr val="02B676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66675"/>
              <a:ext cx="790640" cy="67402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1500364" y="9062976"/>
            <a:ext cx="1628012" cy="5251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60"/>
              </a:lnSpc>
            </a:pPr>
            <a:r>
              <a:rPr lang="en-US" sz="2600" b="true">
                <a:solidFill>
                  <a:srgbClr val="FEC801"/>
                </a:solidFill>
                <a:latin typeface="Telegraf Medium"/>
                <a:ea typeface="Telegraf Medium"/>
                <a:cs typeface="Telegraf Medium"/>
                <a:sym typeface="Telegraf Medium"/>
              </a:rPr>
              <a:t>MAE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500364" y="7864317"/>
            <a:ext cx="1628012" cy="12369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239"/>
              </a:lnSpc>
            </a:pPr>
            <a:r>
              <a:rPr lang="en-US" sz="6399">
                <a:solidFill>
                  <a:srgbClr val="FEC801"/>
                </a:solidFill>
                <a:latin typeface="Bebas Neue"/>
                <a:ea typeface="Bebas Neue"/>
                <a:cs typeface="Bebas Neue"/>
                <a:sym typeface="Bebas Neue"/>
              </a:rPr>
              <a:t>38.76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4853424" y="9062976"/>
            <a:ext cx="1628012" cy="5251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60"/>
              </a:lnSpc>
            </a:pPr>
            <a:r>
              <a:rPr lang="en-US" sz="2600" b="true">
                <a:solidFill>
                  <a:srgbClr val="FEC801"/>
                </a:solidFill>
                <a:latin typeface="Telegraf Medium"/>
                <a:ea typeface="Telegraf Medium"/>
                <a:cs typeface="Telegraf Medium"/>
                <a:sym typeface="Telegraf Medium"/>
              </a:rPr>
              <a:t>RMSE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4853424" y="7864317"/>
            <a:ext cx="1628012" cy="12369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239"/>
              </a:lnSpc>
            </a:pPr>
            <a:r>
              <a:rPr lang="en-US" sz="6399">
                <a:solidFill>
                  <a:srgbClr val="FEC801"/>
                </a:solidFill>
                <a:latin typeface="Bebas Neue"/>
                <a:ea typeface="Bebas Neue"/>
                <a:cs typeface="Bebas Neue"/>
                <a:sym typeface="Bebas Neue"/>
              </a:rPr>
              <a:t>52.14</a:t>
            </a:r>
          </a:p>
        </p:txBody>
      </p:sp>
      <p:sp>
        <p:nvSpPr>
          <p:cNvPr name="Freeform 18" id="18"/>
          <p:cNvSpPr/>
          <p:nvPr/>
        </p:nvSpPr>
        <p:spPr>
          <a:xfrm flipH="false" flipV="false" rot="0">
            <a:off x="6047047" y="2834815"/>
            <a:ext cx="12240953" cy="4544454"/>
          </a:xfrm>
          <a:custGeom>
            <a:avLst/>
            <a:gdLst/>
            <a:ahLst/>
            <a:cxnLst/>
            <a:rect r="r" b="b" t="t" l="l"/>
            <a:pathLst>
              <a:path h="4544454" w="12240953">
                <a:moveTo>
                  <a:pt x="0" y="0"/>
                </a:moveTo>
                <a:lnTo>
                  <a:pt x="12240953" y="0"/>
                </a:lnTo>
                <a:lnTo>
                  <a:pt x="12240953" y="4544454"/>
                </a:lnTo>
                <a:lnTo>
                  <a:pt x="0" y="454445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>
  <p:cSld>
    <p:bg>
      <p:bgPr>
        <a:solidFill>
          <a:srgbClr val="EEF4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name="Table 2" id="2"/>
          <p:cNvGraphicFramePr>
            <a:graphicFrameLocks noGrp="true"/>
          </p:cNvGraphicFramePr>
          <p:nvPr/>
        </p:nvGraphicFramePr>
        <p:xfrm>
          <a:off x="1884379" y="2951253"/>
          <a:ext cx="13814654" cy="4384493"/>
        </p:xfrm>
        <a:graphic>
          <a:graphicData uri="http://schemas.openxmlformats.org/drawingml/2006/table">
            <a:tbl>
              <a:tblPr/>
              <a:tblGrid>
                <a:gridCol w="6123333"/>
                <a:gridCol w="3667797"/>
                <a:gridCol w="4023524"/>
              </a:tblGrid>
              <a:tr h="859116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080"/>
                        </a:lnSpc>
                        <a:defRPr/>
                      </a:pPr>
                      <a:r>
                        <a:rPr lang="en-US" sz="2200">
                          <a:solidFill>
                            <a:srgbClr val="290606"/>
                          </a:solidFill>
                          <a:latin typeface="Telegraf"/>
                          <a:ea typeface="Telegraf"/>
                          <a:cs typeface="Telegraf"/>
                          <a:sym typeface="Telegraf"/>
                        </a:rPr>
                        <a:t>Model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2928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2928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2928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2928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080"/>
                        </a:lnSpc>
                        <a:defRPr/>
                      </a:pPr>
                      <a:r>
                        <a:rPr lang="en-US" sz="2200">
                          <a:solidFill>
                            <a:srgbClr val="290606"/>
                          </a:solidFill>
                          <a:latin typeface="Telegraf"/>
                          <a:ea typeface="Telegraf"/>
                          <a:cs typeface="Telegraf"/>
                          <a:sym typeface="Telegraf"/>
                        </a:rPr>
                        <a:t>RMSE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2928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2928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2928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2928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080"/>
                        </a:lnSpc>
                        <a:defRPr/>
                      </a:pPr>
                      <a:r>
                        <a:rPr lang="en-US" sz="2200">
                          <a:solidFill>
                            <a:srgbClr val="290606"/>
                          </a:solidFill>
                          <a:latin typeface="Telegraf"/>
                          <a:ea typeface="Telegraf"/>
                          <a:cs typeface="Telegraf"/>
                          <a:sym typeface="Telegraf"/>
                        </a:rPr>
                        <a:t>MAE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2928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2928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2928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2928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59116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080"/>
                        </a:lnSpc>
                        <a:defRPr/>
                      </a:pPr>
                      <a:r>
                        <a:rPr lang="en-US" sz="2200">
                          <a:solidFill>
                            <a:srgbClr val="290606"/>
                          </a:solidFill>
                          <a:latin typeface="Telegraf"/>
                          <a:ea typeface="Telegraf"/>
                          <a:cs typeface="Telegraf"/>
                          <a:sym typeface="Telegraf"/>
                        </a:rPr>
                        <a:t>Random Forest (skforecast)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2928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2928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2928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2928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080"/>
                        </a:lnSpc>
                        <a:defRPr/>
                      </a:pPr>
                      <a:r>
                        <a:rPr lang="en-US" sz="2200" b="true">
                          <a:solidFill>
                            <a:srgbClr val="290606"/>
                          </a:solidFill>
                          <a:latin typeface="Telegraf Medium"/>
                          <a:ea typeface="Telegraf Medium"/>
                          <a:cs typeface="Telegraf Medium"/>
                          <a:sym typeface="Telegraf Medium"/>
                        </a:rPr>
                        <a:t>61.13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2928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2928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2928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2928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080"/>
                        </a:lnSpc>
                        <a:defRPr/>
                      </a:pPr>
                      <a:r>
                        <a:rPr lang="en-US" sz="2200" b="true">
                          <a:solidFill>
                            <a:srgbClr val="290606"/>
                          </a:solidFill>
                          <a:latin typeface="Telegraf Medium"/>
                          <a:ea typeface="Telegraf Medium"/>
                          <a:cs typeface="Telegraf Medium"/>
                          <a:sym typeface="Telegraf Medium"/>
                        </a:rPr>
                        <a:t>47.14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2928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2928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2928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2928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48028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080"/>
                        </a:lnSpc>
                        <a:defRPr/>
                      </a:pPr>
                      <a:r>
                        <a:rPr lang="en-US" sz="2200">
                          <a:solidFill>
                            <a:srgbClr val="290606"/>
                          </a:solidFill>
                          <a:latin typeface="Telegraf"/>
                          <a:ea typeface="Telegraf"/>
                          <a:cs typeface="Telegraf"/>
                          <a:sym typeface="Telegraf"/>
                        </a:rPr>
                        <a:t>MLP Neural Network (scikit-learn)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2928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2928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2928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2928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080"/>
                        </a:lnSpc>
                        <a:defRPr/>
                      </a:pPr>
                      <a:r>
                        <a:rPr lang="en-US" sz="2200" b="true">
                          <a:solidFill>
                            <a:srgbClr val="290606"/>
                          </a:solidFill>
                          <a:latin typeface="Telegraf Medium"/>
                          <a:ea typeface="Telegraf Medium"/>
                          <a:cs typeface="Telegraf Medium"/>
                          <a:sym typeface="Telegraf Medium"/>
                        </a:rPr>
                        <a:t>103.01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2928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2928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2928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2928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080"/>
                        </a:lnSpc>
                        <a:defRPr/>
                      </a:pPr>
                      <a:r>
                        <a:rPr lang="en-US" sz="2200" b="true">
                          <a:solidFill>
                            <a:srgbClr val="290606"/>
                          </a:solidFill>
                          <a:latin typeface="Telegraf Medium"/>
                          <a:ea typeface="Telegraf Medium"/>
                          <a:cs typeface="Telegraf Medium"/>
                          <a:sym typeface="Telegraf Medium"/>
                        </a:rPr>
                        <a:t>66.03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2928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2928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2928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2928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59116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080"/>
                        </a:lnSpc>
                        <a:defRPr/>
                      </a:pPr>
                      <a:r>
                        <a:rPr lang="en-US" sz="2200">
                          <a:solidFill>
                            <a:srgbClr val="290606"/>
                          </a:solidFill>
                          <a:latin typeface="Telegraf"/>
                          <a:ea typeface="Telegraf"/>
                          <a:cs typeface="Telegraf"/>
                          <a:sym typeface="Telegraf"/>
                        </a:rPr>
                        <a:t>linear Regression (scikit-learn)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2928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2928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2928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2928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080"/>
                        </a:lnSpc>
                        <a:defRPr/>
                      </a:pPr>
                      <a:r>
                        <a:rPr lang="en-US" sz="2200" b="true">
                          <a:solidFill>
                            <a:srgbClr val="290606"/>
                          </a:solidFill>
                          <a:latin typeface="Telegraf Medium"/>
                          <a:ea typeface="Telegraf Medium"/>
                          <a:cs typeface="Telegraf Medium"/>
                          <a:sym typeface="Telegraf Medium"/>
                        </a:rPr>
                        <a:t>61.55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2928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2928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2928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2928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080"/>
                        </a:lnSpc>
                        <a:defRPr/>
                      </a:pPr>
                      <a:r>
                        <a:rPr lang="en-US" sz="2200" b="true">
                          <a:solidFill>
                            <a:srgbClr val="290606"/>
                          </a:solidFill>
                          <a:latin typeface="Telegraf Medium"/>
                          <a:ea typeface="Telegraf Medium"/>
                          <a:cs typeface="Telegraf Medium"/>
                          <a:sym typeface="Telegraf Medium"/>
                        </a:rPr>
                        <a:t>48.10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2928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2928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2928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2928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59116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080"/>
                        </a:lnSpc>
                        <a:defRPr/>
                      </a:pPr>
                      <a:r>
                        <a:rPr lang="en-US" sz="2200">
                          <a:solidFill>
                            <a:srgbClr val="290606"/>
                          </a:solidFill>
                          <a:latin typeface="Telegraf"/>
                          <a:ea typeface="Telegraf"/>
                          <a:cs typeface="Telegraf"/>
                          <a:sym typeface="Telegraf"/>
                        </a:rPr>
                        <a:t>LSTM (TensorFlow/Keras)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2928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2928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2928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2928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080"/>
                        </a:lnSpc>
                        <a:defRPr/>
                      </a:pPr>
                      <a:r>
                        <a:rPr lang="en-US" sz="2200" b="true">
                          <a:solidFill>
                            <a:srgbClr val="290606"/>
                          </a:solidFill>
                          <a:latin typeface="Telegraf Medium"/>
                          <a:ea typeface="Telegraf Medium"/>
                          <a:cs typeface="Telegraf Medium"/>
                          <a:sym typeface="Telegraf Medium"/>
                        </a:rPr>
                        <a:t>52.14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2928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2928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2928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2928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080"/>
                        </a:lnSpc>
                        <a:defRPr/>
                      </a:pPr>
                      <a:r>
                        <a:rPr lang="en-US" sz="2200" b="true">
                          <a:solidFill>
                            <a:srgbClr val="290606"/>
                          </a:solidFill>
                          <a:latin typeface="Telegraf Medium"/>
                          <a:ea typeface="Telegraf Medium"/>
                          <a:cs typeface="Telegraf Medium"/>
                          <a:sym typeface="Telegraf Medium"/>
                        </a:rPr>
                        <a:t>38.76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2928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2928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2928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2928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name="TextBox 3" id="3"/>
          <p:cNvSpPr txBox="true"/>
          <p:nvPr/>
        </p:nvSpPr>
        <p:spPr>
          <a:xfrm rot="0">
            <a:off x="1028700" y="1019175"/>
            <a:ext cx="8115300" cy="1073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99"/>
              </a:lnSpc>
            </a:pPr>
            <a:r>
              <a:rPr lang="en-US" sz="6999" spc="342">
                <a:solidFill>
                  <a:srgbClr val="290606"/>
                </a:solidFill>
                <a:latin typeface="Cheddar"/>
                <a:ea typeface="Cheddar"/>
                <a:cs typeface="Cheddar"/>
                <a:sym typeface="Cheddar"/>
              </a:rPr>
              <a:t>COMPARISON TABLE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EF4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3023420" y="1630308"/>
            <a:ext cx="12241161" cy="7627992"/>
          </a:xfrm>
          <a:custGeom>
            <a:avLst/>
            <a:gdLst/>
            <a:ahLst/>
            <a:cxnLst/>
            <a:rect r="r" b="b" t="t" l="l"/>
            <a:pathLst>
              <a:path h="7627992" w="12241161">
                <a:moveTo>
                  <a:pt x="0" y="0"/>
                </a:moveTo>
                <a:lnTo>
                  <a:pt x="12241160" y="0"/>
                </a:lnTo>
                <a:lnTo>
                  <a:pt x="12241160" y="7627992"/>
                </a:lnTo>
                <a:lnTo>
                  <a:pt x="0" y="762799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-6717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757527" y="487363"/>
            <a:ext cx="14772946" cy="1073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999"/>
              </a:lnSpc>
            </a:pPr>
            <a:r>
              <a:rPr lang="en-US" sz="6999" spc="342">
                <a:solidFill>
                  <a:srgbClr val="290606"/>
                </a:solidFill>
                <a:latin typeface="Cheddar"/>
                <a:ea typeface="Cheddar"/>
                <a:cs typeface="Cheddar"/>
                <a:sym typeface="Cheddar"/>
              </a:rPr>
              <a:t>TRADING SIGNALS ANALYSIS</a:t>
            </a: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EF4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604436"/>
            <a:ext cx="8115300" cy="1073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99"/>
              </a:lnSpc>
            </a:pPr>
            <a:r>
              <a:rPr lang="en-US" sz="6999" spc="342">
                <a:solidFill>
                  <a:srgbClr val="290606"/>
                </a:solidFill>
                <a:latin typeface="Cheddar"/>
                <a:ea typeface="Cheddar"/>
                <a:cs typeface="Cheddar"/>
                <a:sym typeface="Cheddar"/>
              </a:rPr>
              <a:t>NEXT DAY PREDICTION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392851" y="1860423"/>
            <a:ext cx="17480907" cy="5957737"/>
          </a:xfrm>
          <a:custGeom>
            <a:avLst/>
            <a:gdLst/>
            <a:ahLst/>
            <a:cxnLst/>
            <a:rect r="r" b="b" t="t" l="l"/>
            <a:pathLst>
              <a:path h="5957737" w="17480907">
                <a:moveTo>
                  <a:pt x="0" y="0"/>
                </a:moveTo>
                <a:lnTo>
                  <a:pt x="17480907" y="0"/>
                </a:lnTo>
                <a:lnTo>
                  <a:pt x="17480907" y="5957737"/>
                </a:lnTo>
                <a:lnTo>
                  <a:pt x="0" y="595773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723" r="0" b="-1723"/>
            </a:stretch>
          </a:blipFill>
        </p:spPr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EF4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778260" y="2170690"/>
            <a:ext cx="16731479" cy="4705729"/>
          </a:xfrm>
          <a:custGeom>
            <a:avLst/>
            <a:gdLst/>
            <a:ahLst/>
            <a:cxnLst/>
            <a:rect r="r" b="b" t="t" l="l"/>
            <a:pathLst>
              <a:path h="4705729" w="16731479">
                <a:moveTo>
                  <a:pt x="0" y="0"/>
                </a:moveTo>
                <a:lnTo>
                  <a:pt x="16731480" y="0"/>
                </a:lnTo>
                <a:lnTo>
                  <a:pt x="16731480" y="4705728"/>
                </a:lnTo>
                <a:lnTo>
                  <a:pt x="0" y="470572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4019179" y="44450"/>
            <a:ext cx="10249642" cy="1958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999"/>
              </a:lnSpc>
            </a:pPr>
            <a:r>
              <a:rPr lang="en-US" sz="6999" spc="342">
                <a:solidFill>
                  <a:srgbClr val="290606"/>
                </a:solidFill>
                <a:latin typeface="Cheddar"/>
                <a:ea typeface="Cheddar"/>
                <a:cs typeface="Cheddar"/>
                <a:sym typeface="Cheddar"/>
              </a:rPr>
              <a:t>MACRO-ECONOMIC INDICATORS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7821479" y="7047868"/>
            <a:ext cx="2645043" cy="820887"/>
            <a:chOff x="0" y="0"/>
            <a:chExt cx="3526724" cy="1094516"/>
          </a:xfrm>
        </p:grpSpPr>
        <p:grpSp>
          <p:nvGrpSpPr>
            <p:cNvPr name="Group 5" id="5"/>
            <p:cNvGrpSpPr/>
            <p:nvPr/>
          </p:nvGrpSpPr>
          <p:grpSpPr>
            <a:xfrm rot="0">
              <a:off x="0" y="0"/>
              <a:ext cx="3526724" cy="1094516"/>
              <a:chOff x="0" y="0"/>
              <a:chExt cx="1737573" cy="539254"/>
            </a:xfrm>
          </p:grpSpPr>
          <p:sp>
            <p:nvSpPr>
              <p:cNvPr name="Freeform 6" id="6"/>
              <p:cNvSpPr/>
              <p:nvPr/>
            </p:nvSpPr>
            <p:spPr>
              <a:xfrm flipH="false" flipV="false" rot="0">
                <a:off x="0" y="0"/>
                <a:ext cx="1737573" cy="539254"/>
              </a:xfrm>
              <a:custGeom>
                <a:avLst/>
                <a:gdLst/>
                <a:ahLst/>
                <a:cxnLst/>
                <a:rect r="r" b="b" t="t" l="l"/>
                <a:pathLst>
                  <a:path h="539254" w="1737573">
                    <a:moveTo>
                      <a:pt x="29270" y="0"/>
                    </a:moveTo>
                    <a:lnTo>
                      <a:pt x="1708304" y="0"/>
                    </a:lnTo>
                    <a:cubicBezTo>
                      <a:pt x="1716066" y="0"/>
                      <a:pt x="1723511" y="3084"/>
                      <a:pt x="1729000" y="8573"/>
                    </a:cubicBezTo>
                    <a:cubicBezTo>
                      <a:pt x="1734489" y="14062"/>
                      <a:pt x="1737573" y="21507"/>
                      <a:pt x="1737573" y="29270"/>
                    </a:cubicBezTo>
                    <a:lnTo>
                      <a:pt x="1737573" y="509985"/>
                    </a:lnTo>
                    <a:cubicBezTo>
                      <a:pt x="1737573" y="526150"/>
                      <a:pt x="1724469" y="539254"/>
                      <a:pt x="1708304" y="539254"/>
                    </a:cubicBezTo>
                    <a:lnTo>
                      <a:pt x="29270" y="539254"/>
                    </a:lnTo>
                    <a:cubicBezTo>
                      <a:pt x="21507" y="539254"/>
                      <a:pt x="14062" y="536171"/>
                      <a:pt x="8573" y="530682"/>
                    </a:cubicBezTo>
                    <a:cubicBezTo>
                      <a:pt x="3084" y="525193"/>
                      <a:pt x="0" y="517748"/>
                      <a:pt x="0" y="509985"/>
                    </a:cubicBezTo>
                    <a:lnTo>
                      <a:pt x="0" y="29270"/>
                    </a:lnTo>
                    <a:cubicBezTo>
                      <a:pt x="0" y="21507"/>
                      <a:pt x="3084" y="14062"/>
                      <a:pt x="8573" y="8573"/>
                    </a:cubicBezTo>
                    <a:cubicBezTo>
                      <a:pt x="14062" y="3084"/>
                      <a:pt x="21507" y="0"/>
                      <a:pt x="29270" y="0"/>
                    </a:cubicBezTo>
                    <a:close/>
                  </a:path>
                </a:pathLst>
              </a:custGeom>
              <a:solidFill>
                <a:srgbClr val="02B676">
                  <a:alpha val="69804"/>
                </a:srgbClr>
              </a:solidFill>
            </p:spPr>
          </p:sp>
          <p:sp>
            <p:nvSpPr>
              <p:cNvPr name="TextBox 7" id="7"/>
              <p:cNvSpPr txBox="true"/>
              <p:nvPr/>
            </p:nvSpPr>
            <p:spPr>
              <a:xfrm>
                <a:off x="0" y="-38100"/>
                <a:ext cx="1737573" cy="577354"/>
              </a:xfrm>
              <a:prstGeom prst="rect">
                <a:avLst/>
              </a:prstGeom>
            </p:spPr>
            <p:txBody>
              <a:bodyPr anchor="ctr" rtlCol="false" tIns="80497" lIns="80497" bIns="80497" rIns="80497"/>
              <a:lstStyle/>
              <a:p>
                <a:pPr algn="ctr">
                  <a:lnSpc>
                    <a:spcPts val="3599"/>
                  </a:lnSpc>
                </a:pPr>
              </a:p>
            </p:txBody>
          </p:sp>
        </p:grpSp>
        <p:sp>
          <p:nvSpPr>
            <p:cNvPr name="TextBox 8" id="8"/>
            <p:cNvSpPr txBox="true"/>
            <p:nvPr/>
          </p:nvSpPr>
          <p:spPr>
            <a:xfrm rot="0">
              <a:off x="1208799" y="0"/>
              <a:ext cx="1109126" cy="64043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151"/>
                </a:lnSpc>
              </a:pPr>
              <a:r>
                <a:rPr lang="en-US" sz="3151" spc="154">
                  <a:solidFill>
                    <a:srgbClr val="290606"/>
                  </a:solidFill>
                  <a:latin typeface="Cheddar"/>
                  <a:ea typeface="Cheddar"/>
                  <a:cs typeface="Cheddar"/>
                  <a:sym typeface="Cheddar"/>
                </a:rPr>
                <a:t>DXY</a:t>
              </a:r>
            </a:p>
          </p:txBody>
        </p:sp>
        <p:sp>
          <p:nvSpPr>
            <p:cNvPr name="TextBox 9" id="9"/>
            <p:cNvSpPr txBox="true"/>
            <p:nvPr/>
          </p:nvSpPr>
          <p:spPr>
            <a:xfrm rot="0">
              <a:off x="197822" y="659484"/>
              <a:ext cx="3131079" cy="30470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593"/>
                </a:lnSpc>
              </a:pPr>
              <a:r>
                <a:rPr lang="en-US" b="true" sz="1593" spc="78">
                  <a:solidFill>
                    <a:srgbClr val="290606"/>
                  </a:solidFill>
                  <a:latin typeface="Telegraf Bold"/>
                  <a:ea typeface="Telegraf Bold"/>
                  <a:cs typeface="Telegraf Bold"/>
                  <a:sym typeface="Telegraf Bold"/>
                </a:rPr>
                <a:t>USD Index</a:t>
              </a:r>
            </a:p>
          </p:txBody>
        </p:sp>
      </p:grp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EF4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44033" y="2355928"/>
            <a:ext cx="16215267" cy="4520006"/>
          </a:xfrm>
          <a:custGeom>
            <a:avLst/>
            <a:gdLst/>
            <a:ahLst/>
            <a:cxnLst/>
            <a:rect r="r" b="b" t="t" l="l"/>
            <a:pathLst>
              <a:path h="4520006" w="16215267">
                <a:moveTo>
                  <a:pt x="0" y="0"/>
                </a:moveTo>
                <a:lnTo>
                  <a:pt x="16215267" y="0"/>
                </a:lnTo>
                <a:lnTo>
                  <a:pt x="16215267" y="4520005"/>
                </a:lnTo>
                <a:lnTo>
                  <a:pt x="0" y="452000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4019179" y="44450"/>
            <a:ext cx="10249642" cy="1958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999"/>
              </a:lnSpc>
            </a:pPr>
            <a:r>
              <a:rPr lang="en-US" sz="6999" spc="342">
                <a:solidFill>
                  <a:srgbClr val="290606"/>
                </a:solidFill>
                <a:latin typeface="Cheddar"/>
                <a:ea typeface="Cheddar"/>
                <a:cs typeface="Cheddar"/>
                <a:sym typeface="Cheddar"/>
              </a:rPr>
              <a:t>MACRO-ECONOMIC INDICATORS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7821479" y="7228358"/>
            <a:ext cx="2645043" cy="820887"/>
            <a:chOff x="0" y="0"/>
            <a:chExt cx="3526724" cy="1094516"/>
          </a:xfrm>
        </p:grpSpPr>
        <p:grpSp>
          <p:nvGrpSpPr>
            <p:cNvPr name="Group 5" id="5"/>
            <p:cNvGrpSpPr/>
            <p:nvPr/>
          </p:nvGrpSpPr>
          <p:grpSpPr>
            <a:xfrm rot="0">
              <a:off x="0" y="0"/>
              <a:ext cx="3526724" cy="1094516"/>
              <a:chOff x="0" y="0"/>
              <a:chExt cx="1737573" cy="539254"/>
            </a:xfrm>
          </p:grpSpPr>
          <p:sp>
            <p:nvSpPr>
              <p:cNvPr name="Freeform 6" id="6"/>
              <p:cNvSpPr/>
              <p:nvPr/>
            </p:nvSpPr>
            <p:spPr>
              <a:xfrm flipH="false" flipV="false" rot="0">
                <a:off x="0" y="0"/>
                <a:ext cx="1737573" cy="539254"/>
              </a:xfrm>
              <a:custGeom>
                <a:avLst/>
                <a:gdLst/>
                <a:ahLst/>
                <a:cxnLst/>
                <a:rect r="r" b="b" t="t" l="l"/>
                <a:pathLst>
                  <a:path h="539254" w="1737573">
                    <a:moveTo>
                      <a:pt x="29270" y="0"/>
                    </a:moveTo>
                    <a:lnTo>
                      <a:pt x="1708304" y="0"/>
                    </a:lnTo>
                    <a:cubicBezTo>
                      <a:pt x="1716066" y="0"/>
                      <a:pt x="1723511" y="3084"/>
                      <a:pt x="1729000" y="8573"/>
                    </a:cubicBezTo>
                    <a:cubicBezTo>
                      <a:pt x="1734489" y="14062"/>
                      <a:pt x="1737573" y="21507"/>
                      <a:pt x="1737573" y="29270"/>
                    </a:cubicBezTo>
                    <a:lnTo>
                      <a:pt x="1737573" y="509985"/>
                    </a:lnTo>
                    <a:cubicBezTo>
                      <a:pt x="1737573" y="526150"/>
                      <a:pt x="1724469" y="539254"/>
                      <a:pt x="1708304" y="539254"/>
                    </a:cubicBezTo>
                    <a:lnTo>
                      <a:pt x="29270" y="539254"/>
                    </a:lnTo>
                    <a:cubicBezTo>
                      <a:pt x="21507" y="539254"/>
                      <a:pt x="14062" y="536171"/>
                      <a:pt x="8573" y="530682"/>
                    </a:cubicBezTo>
                    <a:cubicBezTo>
                      <a:pt x="3084" y="525193"/>
                      <a:pt x="0" y="517748"/>
                      <a:pt x="0" y="509985"/>
                    </a:cubicBezTo>
                    <a:lnTo>
                      <a:pt x="0" y="29270"/>
                    </a:lnTo>
                    <a:cubicBezTo>
                      <a:pt x="0" y="21507"/>
                      <a:pt x="3084" y="14062"/>
                      <a:pt x="8573" y="8573"/>
                    </a:cubicBezTo>
                    <a:cubicBezTo>
                      <a:pt x="14062" y="3084"/>
                      <a:pt x="21507" y="0"/>
                      <a:pt x="29270" y="0"/>
                    </a:cubicBezTo>
                    <a:close/>
                  </a:path>
                </a:pathLst>
              </a:custGeom>
              <a:solidFill>
                <a:srgbClr val="02B676">
                  <a:alpha val="69804"/>
                </a:srgbClr>
              </a:solidFill>
            </p:spPr>
          </p:sp>
          <p:sp>
            <p:nvSpPr>
              <p:cNvPr name="TextBox 7" id="7"/>
              <p:cNvSpPr txBox="true"/>
              <p:nvPr/>
            </p:nvSpPr>
            <p:spPr>
              <a:xfrm>
                <a:off x="0" y="-38100"/>
                <a:ext cx="1737573" cy="577354"/>
              </a:xfrm>
              <a:prstGeom prst="rect">
                <a:avLst/>
              </a:prstGeom>
            </p:spPr>
            <p:txBody>
              <a:bodyPr anchor="ctr" rtlCol="false" tIns="80497" lIns="80497" bIns="80497" rIns="80497"/>
              <a:lstStyle/>
              <a:p>
                <a:pPr algn="ctr">
                  <a:lnSpc>
                    <a:spcPts val="3599"/>
                  </a:lnSpc>
                </a:pPr>
              </a:p>
            </p:txBody>
          </p:sp>
        </p:grpSp>
        <p:sp>
          <p:nvSpPr>
            <p:cNvPr name="TextBox 8" id="8"/>
            <p:cNvSpPr txBox="true"/>
            <p:nvPr/>
          </p:nvSpPr>
          <p:spPr>
            <a:xfrm rot="0">
              <a:off x="1036566" y="0"/>
              <a:ext cx="1453592" cy="64043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151"/>
                </a:lnSpc>
              </a:pPr>
              <a:r>
                <a:rPr lang="en-US" sz="3151" spc="154">
                  <a:solidFill>
                    <a:srgbClr val="290606"/>
                  </a:solidFill>
                  <a:latin typeface="Cheddar"/>
                  <a:ea typeface="Cheddar"/>
                  <a:cs typeface="Cheddar"/>
                  <a:sym typeface="Cheddar"/>
                </a:rPr>
                <a:t>US10Y</a:t>
              </a:r>
            </a:p>
          </p:txBody>
        </p:sp>
        <p:sp>
          <p:nvSpPr>
            <p:cNvPr name="TextBox 9" id="9"/>
            <p:cNvSpPr txBox="true"/>
            <p:nvPr/>
          </p:nvSpPr>
          <p:spPr>
            <a:xfrm rot="0">
              <a:off x="197822" y="659484"/>
              <a:ext cx="3131079" cy="30470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593"/>
                </a:lnSpc>
              </a:pPr>
              <a:r>
                <a:rPr lang="en-US" b="true" sz="1593" spc="78">
                  <a:solidFill>
                    <a:srgbClr val="290606"/>
                  </a:solidFill>
                  <a:latin typeface="Telegraf Bold"/>
                  <a:ea typeface="Telegraf Bold"/>
                  <a:cs typeface="Telegraf Bold"/>
                  <a:sym typeface="Telegraf Bold"/>
                </a:rPr>
                <a:t>Treasury Yield</a:t>
              </a:r>
            </a:p>
          </p:txBody>
        </p:sp>
      </p:grp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EF4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329831" y="2818785"/>
            <a:ext cx="15628339" cy="4649431"/>
          </a:xfrm>
          <a:custGeom>
            <a:avLst/>
            <a:gdLst/>
            <a:ahLst/>
            <a:cxnLst/>
            <a:rect r="r" b="b" t="t" l="l"/>
            <a:pathLst>
              <a:path h="4649431" w="15628339">
                <a:moveTo>
                  <a:pt x="0" y="0"/>
                </a:moveTo>
                <a:lnTo>
                  <a:pt x="15628338" y="0"/>
                </a:lnTo>
                <a:lnTo>
                  <a:pt x="15628338" y="4649430"/>
                </a:lnTo>
                <a:lnTo>
                  <a:pt x="0" y="464943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4019179" y="44450"/>
            <a:ext cx="10249642" cy="1958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999"/>
              </a:lnSpc>
            </a:pPr>
            <a:r>
              <a:rPr lang="en-US" sz="6999" spc="342">
                <a:solidFill>
                  <a:srgbClr val="290606"/>
                </a:solidFill>
                <a:latin typeface="Cheddar"/>
                <a:ea typeface="Cheddar"/>
                <a:cs typeface="Cheddar"/>
                <a:sym typeface="Cheddar"/>
              </a:rPr>
              <a:t>MACRO-ECONOMIC INDICATORS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7821479" y="8013290"/>
            <a:ext cx="2645043" cy="820887"/>
            <a:chOff x="0" y="0"/>
            <a:chExt cx="3526724" cy="1094516"/>
          </a:xfrm>
        </p:grpSpPr>
        <p:grpSp>
          <p:nvGrpSpPr>
            <p:cNvPr name="Group 5" id="5"/>
            <p:cNvGrpSpPr/>
            <p:nvPr/>
          </p:nvGrpSpPr>
          <p:grpSpPr>
            <a:xfrm rot="0">
              <a:off x="0" y="0"/>
              <a:ext cx="3526724" cy="1094516"/>
              <a:chOff x="0" y="0"/>
              <a:chExt cx="1737573" cy="539254"/>
            </a:xfrm>
          </p:grpSpPr>
          <p:sp>
            <p:nvSpPr>
              <p:cNvPr name="Freeform 6" id="6"/>
              <p:cNvSpPr/>
              <p:nvPr/>
            </p:nvSpPr>
            <p:spPr>
              <a:xfrm flipH="false" flipV="false" rot="0">
                <a:off x="0" y="0"/>
                <a:ext cx="1737573" cy="539254"/>
              </a:xfrm>
              <a:custGeom>
                <a:avLst/>
                <a:gdLst/>
                <a:ahLst/>
                <a:cxnLst/>
                <a:rect r="r" b="b" t="t" l="l"/>
                <a:pathLst>
                  <a:path h="539254" w="1737573">
                    <a:moveTo>
                      <a:pt x="29270" y="0"/>
                    </a:moveTo>
                    <a:lnTo>
                      <a:pt x="1708304" y="0"/>
                    </a:lnTo>
                    <a:cubicBezTo>
                      <a:pt x="1716066" y="0"/>
                      <a:pt x="1723511" y="3084"/>
                      <a:pt x="1729000" y="8573"/>
                    </a:cubicBezTo>
                    <a:cubicBezTo>
                      <a:pt x="1734489" y="14062"/>
                      <a:pt x="1737573" y="21507"/>
                      <a:pt x="1737573" y="29270"/>
                    </a:cubicBezTo>
                    <a:lnTo>
                      <a:pt x="1737573" y="509985"/>
                    </a:lnTo>
                    <a:cubicBezTo>
                      <a:pt x="1737573" y="526150"/>
                      <a:pt x="1724469" y="539254"/>
                      <a:pt x="1708304" y="539254"/>
                    </a:cubicBezTo>
                    <a:lnTo>
                      <a:pt x="29270" y="539254"/>
                    </a:lnTo>
                    <a:cubicBezTo>
                      <a:pt x="21507" y="539254"/>
                      <a:pt x="14062" y="536171"/>
                      <a:pt x="8573" y="530682"/>
                    </a:cubicBezTo>
                    <a:cubicBezTo>
                      <a:pt x="3084" y="525193"/>
                      <a:pt x="0" y="517748"/>
                      <a:pt x="0" y="509985"/>
                    </a:cubicBezTo>
                    <a:lnTo>
                      <a:pt x="0" y="29270"/>
                    </a:lnTo>
                    <a:cubicBezTo>
                      <a:pt x="0" y="21507"/>
                      <a:pt x="3084" y="14062"/>
                      <a:pt x="8573" y="8573"/>
                    </a:cubicBezTo>
                    <a:cubicBezTo>
                      <a:pt x="14062" y="3084"/>
                      <a:pt x="21507" y="0"/>
                      <a:pt x="29270" y="0"/>
                    </a:cubicBezTo>
                    <a:close/>
                  </a:path>
                </a:pathLst>
              </a:custGeom>
              <a:solidFill>
                <a:srgbClr val="02B676">
                  <a:alpha val="69804"/>
                </a:srgbClr>
              </a:solidFill>
            </p:spPr>
          </p:sp>
          <p:sp>
            <p:nvSpPr>
              <p:cNvPr name="TextBox 7" id="7"/>
              <p:cNvSpPr txBox="true"/>
              <p:nvPr/>
            </p:nvSpPr>
            <p:spPr>
              <a:xfrm>
                <a:off x="0" y="-38100"/>
                <a:ext cx="1737573" cy="577354"/>
              </a:xfrm>
              <a:prstGeom prst="rect">
                <a:avLst/>
              </a:prstGeom>
            </p:spPr>
            <p:txBody>
              <a:bodyPr anchor="ctr" rtlCol="false" tIns="80497" lIns="80497" bIns="80497" rIns="80497"/>
              <a:lstStyle/>
              <a:p>
                <a:pPr algn="ctr">
                  <a:lnSpc>
                    <a:spcPts val="3599"/>
                  </a:lnSpc>
                </a:pPr>
              </a:p>
            </p:txBody>
          </p:sp>
        </p:grpSp>
        <p:sp>
          <p:nvSpPr>
            <p:cNvPr name="TextBox 8" id="8"/>
            <p:cNvSpPr txBox="true"/>
            <p:nvPr/>
          </p:nvSpPr>
          <p:spPr>
            <a:xfrm rot="0">
              <a:off x="1208799" y="0"/>
              <a:ext cx="1109126" cy="64043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151"/>
                </a:lnSpc>
              </a:pPr>
              <a:r>
                <a:rPr lang="en-US" sz="3151" spc="154">
                  <a:solidFill>
                    <a:srgbClr val="290606"/>
                  </a:solidFill>
                  <a:latin typeface="Cheddar"/>
                  <a:ea typeface="Cheddar"/>
                  <a:cs typeface="Cheddar"/>
                  <a:sym typeface="Cheddar"/>
                </a:rPr>
                <a:t>CPI</a:t>
              </a:r>
            </a:p>
          </p:txBody>
        </p:sp>
        <p:sp>
          <p:nvSpPr>
            <p:cNvPr name="TextBox 9" id="9"/>
            <p:cNvSpPr txBox="true"/>
            <p:nvPr/>
          </p:nvSpPr>
          <p:spPr>
            <a:xfrm rot="0">
              <a:off x="197822" y="659484"/>
              <a:ext cx="3131079" cy="30470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593"/>
                </a:lnSpc>
              </a:pPr>
              <a:r>
                <a:rPr lang="en-US" b="true" sz="1593" spc="78">
                  <a:solidFill>
                    <a:srgbClr val="290606"/>
                  </a:solidFill>
                  <a:latin typeface="Telegraf Bold"/>
                  <a:ea typeface="Telegraf Bold"/>
                  <a:cs typeface="Telegraf Bold"/>
                  <a:sym typeface="Telegraf Bold"/>
                </a:rPr>
                <a:t>Inflation</a:t>
              </a:r>
            </a:p>
          </p:txBody>
        </p:sp>
      </p:grp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EF4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28700" y="2644175"/>
            <a:ext cx="15806477" cy="4445572"/>
          </a:xfrm>
          <a:custGeom>
            <a:avLst/>
            <a:gdLst/>
            <a:ahLst/>
            <a:cxnLst/>
            <a:rect r="r" b="b" t="t" l="l"/>
            <a:pathLst>
              <a:path h="4445572" w="15806477">
                <a:moveTo>
                  <a:pt x="0" y="0"/>
                </a:moveTo>
                <a:lnTo>
                  <a:pt x="15806477" y="0"/>
                </a:lnTo>
                <a:lnTo>
                  <a:pt x="15806477" y="4445572"/>
                </a:lnTo>
                <a:lnTo>
                  <a:pt x="0" y="444557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4019179" y="44450"/>
            <a:ext cx="10249642" cy="1958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999"/>
              </a:lnSpc>
            </a:pPr>
            <a:r>
              <a:rPr lang="en-US" sz="6999" spc="342">
                <a:solidFill>
                  <a:srgbClr val="290606"/>
                </a:solidFill>
                <a:latin typeface="Cheddar"/>
                <a:ea typeface="Cheddar"/>
                <a:cs typeface="Cheddar"/>
                <a:sym typeface="Cheddar"/>
              </a:rPr>
              <a:t>MACRO-ECONOMIC INDICATORS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7821479" y="7589167"/>
            <a:ext cx="2645043" cy="820887"/>
            <a:chOff x="0" y="0"/>
            <a:chExt cx="3526724" cy="1094516"/>
          </a:xfrm>
        </p:grpSpPr>
        <p:grpSp>
          <p:nvGrpSpPr>
            <p:cNvPr name="Group 5" id="5"/>
            <p:cNvGrpSpPr/>
            <p:nvPr/>
          </p:nvGrpSpPr>
          <p:grpSpPr>
            <a:xfrm rot="0">
              <a:off x="0" y="0"/>
              <a:ext cx="3526724" cy="1094516"/>
              <a:chOff x="0" y="0"/>
              <a:chExt cx="1737573" cy="539254"/>
            </a:xfrm>
          </p:grpSpPr>
          <p:sp>
            <p:nvSpPr>
              <p:cNvPr name="Freeform 6" id="6"/>
              <p:cNvSpPr/>
              <p:nvPr/>
            </p:nvSpPr>
            <p:spPr>
              <a:xfrm flipH="false" flipV="false" rot="0">
                <a:off x="0" y="0"/>
                <a:ext cx="1737573" cy="539254"/>
              </a:xfrm>
              <a:custGeom>
                <a:avLst/>
                <a:gdLst/>
                <a:ahLst/>
                <a:cxnLst/>
                <a:rect r="r" b="b" t="t" l="l"/>
                <a:pathLst>
                  <a:path h="539254" w="1737573">
                    <a:moveTo>
                      <a:pt x="29270" y="0"/>
                    </a:moveTo>
                    <a:lnTo>
                      <a:pt x="1708304" y="0"/>
                    </a:lnTo>
                    <a:cubicBezTo>
                      <a:pt x="1716066" y="0"/>
                      <a:pt x="1723511" y="3084"/>
                      <a:pt x="1729000" y="8573"/>
                    </a:cubicBezTo>
                    <a:cubicBezTo>
                      <a:pt x="1734489" y="14062"/>
                      <a:pt x="1737573" y="21507"/>
                      <a:pt x="1737573" y="29270"/>
                    </a:cubicBezTo>
                    <a:lnTo>
                      <a:pt x="1737573" y="509985"/>
                    </a:lnTo>
                    <a:cubicBezTo>
                      <a:pt x="1737573" y="526150"/>
                      <a:pt x="1724469" y="539254"/>
                      <a:pt x="1708304" y="539254"/>
                    </a:cubicBezTo>
                    <a:lnTo>
                      <a:pt x="29270" y="539254"/>
                    </a:lnTo>
                    <a:cubicBezTo>
                      <a:pt x="21507" y="539254"/>
                      <a:pt x="14062" y="536171"/>
                      <a:pt x="8573" y="530682"/>
                    </a:cubicBezTo>
                    <a:cubicBezTo>
                      <a:pt x="3084" y="525193"/>
                      <a:pt x="0" y="517748"/>
                      <a:pt x="0" y="509985"/>
                    </a:cubicBezTo>
                    <a:lnTo>
                      <a:pt x="0" y="29270"/>
                    </a:lnTo>
                    <a:cubicBezTo>
                      <a:pt x="0" y="21507"/>
                      <a:pt x="3084" y="14062"/>
                      <a:pt x="8573" y="8573"/>
                    </a:cubicBezTo>
                    <a:cubicBezTo>
                      <a:pt x="14062" y="3084"/>
                      <a:pt x="21507" y="0"/>
                      <a:pt x="29270" y="0"/>
                    </a:cubicBezTo>
                    <a:close/>
                  </a:path>
                </a:pathLst>
              </a:custGeom>
              <a:solidFill>
                <a:srgbClr val="02B676">
                  <a:alpha val="69804"/>
                </a:srgbClr>
              </a:solidFill>
            </p:spPr>
          </p:sp>
          <p:sp>
            <p:nvSpPr>
              <p:cNvPr name="TextBox 7" id="7"/>
              <p:cNvSpPr txBox="true"/>
              <p:nvPr/>
            </p:nvSpPr>
            <p:spPr>
              <a:xfrm>
                <a:off x="0" y="-38100"/>
                <a:ext cx="1737573" cy="577354"/>
              </a:xfrm>
              <a:prstGeom prst="rect">
                <a:avLst/>
              </a:prstGeom>
            </p:spPr>
            <p:txBody>
              <a:bodyPr anchor="ctr" rtlCol="false" tIns="80497" lIns="80497" bIns="80497" rIns="80497"/>
              <a:lstStyle/>
              <a:p>
                <a:pPr algn="ctr">
                  <a:lnSpc>
                    <a:spcPts val="3599"/>
                  </a:lnSpc>
                </a:pPr>
              </a:p>
            </p:txBody>
          </p:sp>
        </p:grpSp>
        <p:sp>
          <p:nvSpPr>
            <p:cNvPr name="TextBox 8" id="8"/>
            <p:cNvSpPr txBox="true"/>
            <p:nvPr/>
          </p:nvSpPr>
          <p:spPr>
            <a:xfrm rot="0">
              <a:off x="1036566" y="0"/>
              <a:ext cx="1453592" cy="64043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151"/>
                </a:lnSpc>
              </a:pPr>
              <a:r>
                <a:rPr lang="en-US" sz="3151" spc="154">
                  <a:solidFill>
                    <a:srgbClr val="290606"/>
                  </a:solidFill>
                  <a:latin typeface="Cheddar"/>
                  <a:ea typeface="Cheddar"/>
                  <a:cs typeface="Cheddar"/>
                  <a:sym typeface="Cheddar"/>
                </a:rPr>
                <a:t>VIX</a:t>
              </a:r>
            </a:p>
          </p:txBody>
        </p:sp>
        <p:sp>
          <p:nvSpPr>
            <p:cNvPr name="TextBox 9" id="9"/>
            <p:cNvSpPr txBox="true"/>
            <p:nvPr/>
          </p:nvSpPr>
          <p:spPr>
            <a:xfrm rot="0">
              <a:off x="197822" y="659484"/>
              <a:ext cx="3131079" cy="30470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593"/>
                </a:lnSpc>
              </a:pPr>
              <a:r>
                <a:rPr lang="en-US" b="true" sz="1593" spc="78">
                  <a:solidFill>
                    <a:srgbClr val="290606"/>
                  </a:solidFill>
                  <a:latin typeface="Telegraf Bold"/>
                  <a:ea typeface="Telegraf Bold"/>
                  <a:cs typeface="Telegraf Bold"/>
                  <a:sym typeface="Telegraf Bold"/>
                </a:rPr>
                <a:t>Volatility</a:t>
              </a:r>
            </a:p>
          </p:txBody>
        </p:sp>
      </p:grpSp>
    </p:spTree>
  </p:cSld>
  <p:clrMapOvr>
    <a:masterClrMapping/>
  </p:clrMapOvr>
</p:sld>
</file>

<file path=ppt/slides/slide2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EF4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6107474" y="2777305"/>
            <a:ext cx="11687747" cy="3988444"/>
          </a:xfrm>
          <a:custGeom>
            <a:avLst/>
            <a:gdLst/>
            <a:ahLst/>
            <a:cxnLst/>
            <a:rect r="r" b="b" t="t" l="l"/>
            <a:pathLst>
              <a:path h="3988444" w="11687747">
                <a:moveTo>
                  <a:pt x="0" y="0"/>
                </a:moveTo>
                <a:lnTo>
                  <a:pt x="11687747" y="0"/>
                </a:lnTo>
                <a:lnTo>
                  <a:pt x="11687747" y="3988443"/>
                </a:lnTo>
                <a:lnTo>
                  <a:pt x="0" y="398844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4019179" y="44450"/>
            <a:ext cx="10249642" cy="1958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999"/>
              </a:lnSpc>
            </a:pPr>
            <a:r>
              <a:rPr lang="en-US" sz="6999" spc="342">
                <a:solidFill>
                  <a:srgbClr val="290606"/>
                </a:solidFill>
                <a:latin typeface="Cheddar"/>
                <a:ea typeface="Cheddar"/>
                <a:cs typeface="Cheddar"/>
                <a:sym typeface="Cheddar"/>
              </a:rPr>
              <a:t>SENTIMENT ANALYSIS — VADER NLP ON GOLD NEWS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153033" y="3142425"/>
            <a:ext cx="5708365" cy="3304674"/>
            <a:chOff x="0" y="0"/>
            <a:chExt cx="1503438" cy="870367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503438" cy="870367"/>
            </a:xfrm>
            <a:custGeom>
              <a:avLst/>
              <a:gdLst/>
              <a:ahLst/>
              <a:cxnLst/>
              <a:rect r="r" b="b" t="t" l="l"/>
              <a:pathLst>
                <a:path h="870367" w="1503438">
                  <a:moveTo>
                    <a:pt x="69168" y="0"/>
                  </a:moveTo>
                  <a:lnTo>
                    <a:pt x="1434270" y="0"/>
                  </a:lnTo>
                  <a:cubicBezTo>
                    <a:pt x="1472470" y="0"/>
                    <a:pt x="1503438" y="30968"/>
                    <a:pt x="1503438" y="69168"/>
                  </a:cubicBezTo>
                  <a:lnTo>
                    <a:pt x="1503438" y="801199"/>
                  </a:lnTo>
                  <a:cubicBezTo>
                    <a:pt x="1503438" y="839399"/>
                    <a:pt x="1472470" y="870367"/>
                    <a:pt x="1434270" y="870367"/>
                  </a:cubicBezTo>
                  <a:lnTo>
                    <a:pt x="69168" y="870367"/>
                  </a:lnTo>
                  <a:cubicBezTo>
                    <a:pt x="30968" y="870367"/>
                    <a:pt x="0" y="839399"/>
                    <a:pt x="0" y="801199"/>
                  </a:cubicBezTo>
                  <a:lnTo>
                    <a:pt x="0" y="69168"/>
                  </a:lnTo>
                  <a:cubicBezTo>
                    <a:pt x="0" y="30968"/>
                    <a:pt x="30968" y="0"/>
                    <a:pt x="69168" y="0"/>
                  </a:cubicBezTo>
                  <a:close/>
                </a:path>
              </a:pathLst>
            </a:custGeom>
            <a:solidFill>
              <a:srgbClr val="02B676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66675"/>
              <a:ext cx="1503438" cy="93704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282207" y="3191012"/>
            <a:ext cx="5579191" cy="30562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40"/>
              </a:lnSpc>
            </a:pPr>
            <a:r>
              <a:rPr lang="en-US" sz="1900" b="true">
                <a:solidFill>
                  <a:srgbClr val="FEC801"/>
                </a:solidFill>
                <a:latin typeface="Telegraf Medium"/>
                <a:ea typeface="Telegraf Medium"/>
                <a:cs typeface="Telegraf Medium"/>
                <a:sym typeface="Telegraf Medium"/>
              </a:rPr>
              <a:t>VADER NLP — How It Works  </a:t>
            </a:r>
          </a:p>
          <a:p>
            <a:pPr algn="l" marL="410214" indent="-205107" lvl="1">
              <a:lnSpc>
                <a:spcPts val="3040"/>
              </a:lnSpc>
              <a:buFont typeface="Arial"/>
              <a:buChar char="•"/>
            </a:pPr>
            <a:r>
              <a:rPr lang="en-US" b="true" sz="1900">
                <a:solidFill>
                  <a:srgbClr val="290606"/>
                </a:solidFill>
                <a:latin typeface="Telegraf Medium"/>
                <a:ea typeface="Telegraf Medium"/>
                <a:cs typeface="Telegraf Medium"/>
                <a:sym typeface="Telegraf Medium"/>
              </a:rPr>
              <a:t>Rule-b</a:t>
            </a:r>
            <a:r>
              <a:rPr lang="en-US" b="true" sz="1900">
                <a:solidFill>
                  <a:srgbClr val="290606"/>
                </a:solidFill>
                <a:latin typeface="Telegraf Medium"/>
                <a:ea typeface="Telegraf Medium"/>
                <a:cs typeface="Telegraf Medium"/>
                <a:sym typeface="Telegraf Medium"/>
              </a:rPr>
              <a:t>ased NLP — no API key, no training needed</a:t>
            </a:r>
          </a:p>
          <a:p>
            <a:pPr algn="l" marL="410214" indent="-205107" lvl="1">
              <a:lnSpc>
                <a:spcPts val="3040"/>
              </a:lnSpc>
              <a:buFont typeface="Arial"/>
              <a:buChar char="•"/>
            </a:pPr>
            <a:r>
              <a:rPr lang="en-US" b="true" sz="1900">
                <a:solidFill>
                  <a:srgbClr val="290606"/>
                </a:solidFill>
                <a:latin typeface="Telegraf Medium"/>
                <a:ea typeface="Telegraf Medium"/>
                <a:cs typeface="Telegraf Medium"/>
                <a:sym typeface="Telegraf Medium"/>
              </a:rPr>
              <a:t>Score range: −1.0 (Bearish) to +1.0 (Bullish)</a:t>
            </a:r>
          </a:p>
          <a:p>
            <a:pPr algn="l" marL="410214" indent="-205107" lvl="1">
              <a:lnSpc>
                <a:spcPts val="3040"/>
              </a:lnSpc>
              <a:buFont typeface="Arial"/>
              <a:buChar char="•"/>
            </a:pPr>
            <a:r>
              <a:rPr lang="en-US" b="true" sz="1900">
                <a:solidFill>
                  <a:srgbClr val="290606"/>
                </a:solidFill>
                <a:latin typeface="Telegraf Medium"/>
                <a:ea typeface="Telegraf Medium"/>
                <a:cs typeface="Telegraf Medium"/>
                <a:sym typeface="Telegraf Medium"/>
              </a:rPr>
              <a:t>Threshold: &gt; +0.05 = BULLISH; &lt; −0.05 = BEARISH</a:t>
            </a:r>
          </a:p>
          <a:p>
            <a:pPr algn="l" marL="410214" indent="-205107" lvl="1">
              <a:lnSpc>
                <a:spcPts val="3040"/>
              </a:lnSpc>
              <a:buFont typeface="Arial"/>
              <a:buChar char="•"/>
            </a:pPr>
            <a:r>
              <a:rPr lang="en-US" b="true" sz="1900">
                <a:solidFill>
                  <a:srgbClr val="290606"/>
                </a:solidFill>
                <a:latin typeface="Telegraf Medium"/>
                <a:ea typeface="Telegraf Medium"/>
                <a:cs typeface="Telegraf Medium"/>
                <a:sym typeface="Telegraf Medium"/>
              </a:rPr>
              <a:t>Headlines from GC=F Yahoo Finance news feed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4606494" y="7398848"/>
            <a:ext cx="3001960" cy="2306026"/>
            <a:chOff x="0" y="0"/>
            <a:chExt cx="790640" cy="607348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790640" cy="607348"/>
            </a:xfrm>
            <a:custGeom>
              <a:avLst/>
              <a:gdLst/>
              <a:ahLst/>
              <a:cxnLst/>
              <a:rect r="r" b="b" t="t" l="l"/>
              <a:pathLst>
                <a:path h="607348" w="790640">
                  <a:moveTo>
                    <a:pt x="131527" y="0"/>
                  </a:moveTo>
                  <a:lnTo>
                    <a:pt x="659113" y="0"/>
                  </a:lnTo>
                  <a:cubicBezTo>
                    <a:pt x="731753" y="0"/>
                    <a:pt x="790640" y="58887"/>
                    <a:pt x="790640" y="131527"/>
                  </a:cubicBezTo>
                  <a:lnTo>
                    <a:pt x="790640" y="475822"/>
                  </a:lnTo>
                  <a:cubicBezTo>
                    <a:pt x="790640" y="548462"/>
                    <a:pt x="731753" y="607348"/>
                    <a:pt x="659113" y="607348"/>
                  </a:cubicBezTo>
                  <a:lnTo>
                    <a:pt x="131527" y="607348"/>
                  </a:lnTo>
                  <a:cubicBezTo>
                    <a:pt x="58887" y="607348"/>
                    <a:pt x="0" y="548462"/>
                    <a:pt x="0" y="475822"/>
                  </a:cubicBezTo>
                  <a:lnTo>
                    <a:pt x="0" y="131527"/>
                  </a:lnTo>
                  <a:cubicBezTo>
                    <a:pt x="0" y="58887"/>
                    <a:pt x="58887" y="0"/>
                    <a:pt x="131527" y="0"/>
                  </a:cubicBezTo>
                  <a:close/>
                </a:path>
              </a:pathLst>
            </a:custGeom>
            <a:solidFill>
              <a:srgbClr val="02B676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66675"/>
              <a:ext cx="790640" cy="67402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5293468" y="8734101"/>
            <a:ext cx="1628012" cy="7277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80"/>
              </a:lnSpc>
            </a:pPr>
            <a:r>
              <a:rPr lang="en-US" sz="1800" b="true">
                <a:solidFill>
                  <a:srgbClr val="FEC801"/>
                </a:solidFill>
                <a:latin typeface="Telegraf Medium"/>
                <a:ea typeface="Telegraf Medium"/>
                <a:cs typeface="Telegraf Medium"/>
                <a:sym typeface="Telegraf Medium"/>
              </a:rPr>
              <a:t>Avg Compound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5293468" y="7723816"/>
            <a:ext cx="1628012" cy="11055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280"/>
              </a:lnSpc>
            </a:pPr>
            <a:r>
              <a:rPr lang="en-US" sz="5800">
                <a:solidFill>
                  <a:srgbClr val="FEC801"/>
                </a:solidFill>
                <a:latin typeface="Bebas Neue"/>
                <a:ea typeface="Bebas Neue"/>
                <a:cs typeface="Bebas Neue"/>
                <a:sym typeface="Bebas Neue"/>
              </a:rPr>
              <a:t>+0.087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8685084" y="7398848"/>
            <a:ext cx="3001960" cy="2306026"/>
            <a:chOff x="0" y="0"/>
            <a:chExt cx="790640" cy="607348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790640" cy="607348"/>
            </a:xfrm>
            <a:custGeom>
              <a:avLst/>
              <a:gdLst/>
              <a:ahLst/>
              <a:cxnLst/>
              <a:rect r="r" b="b" t="t" l="l"/>
              <a:pathLst>
                <a:path h="607348" w="790640">
                  <a:moveTo>
                    <a:pt x="131527" y="0"/>
                  </a:moveTo>
                  <a:lnTo>
                    <a:pt x="659113" y="0"/>
                  </a:lnTo>
                  <a:cubicBezTo>
                    <a:pt x="731753" y="0"/>
                    <a:pt x="790640" y="58887"/>
                    <a:pt x="790640" y="131527"/>
                  </a:cubicBezTo>
                  <a:lnTo>
                    <a:pt x="790640" y="475822"/>
                  </a:lnTo>
                  <a:cubicBezTo>
                    <a:pt x="790640" y="548462"/>
                    <a:pt x="731753" y="607348"/>
                    <a:pt x="659113" y="607348"/>
                  </a:cubicBezTo>
                  <a:lnTo>
                    <a:pt x="131527" y="607348"/>
                  </a:lnTo>
                  <a:cubicBezTo>
                    <a:pt x="58887" y="607348"/>
                    <a:pt x="0" y="548462"/>
                    <a:pt x="0" y="475822"/>
                  </a:cubicBezTo>
                  <a:lnTo>
                    <a:pt x="0" y="131527"/>
                  </a:lnTo>
                  <a:cubicBezTo>
                    <a:pt x="0" y="58887"/>
                    <a:pt x="58887" y="0"/>
                    <a:pt x="131527" y="0"/>
                  </a:cubicBezTo>
                  <a:close/>
                </a:path>
              </a:pathLst>
            </a:custGeom>
            <a:solidFill>
              <a:srgbClr val="02B676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66675"/>
              <a:ext cx="790640" cy="67402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6" id="16"/>
          <p:cNvSpPr txBox="true"/>
          <p:nvPr/>
        </p:nvSpPr>
        <p:spPr>
          <a:xfrm rot="0">
            <a:off x="9372058" y="8729915"/>
            <a:ext cx="1628012" cy="5251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60"/>
              </a:lnSpc>
            </a:pPr>
            <a:r>
              <a:rPr lang="en-US" sz="2600" b="true">
                <a:solidFill>
                  <a:srgbClr val="FEC801"/>
                </a:solidFill>
                <a:latin typeface="Telegraf Medium"/>
                <a:ea typeface="Telegraf Medium"/>
                <a:cs typeface="Telegraf Medium"/>
                <a:sym typeface="Telegraf Medium"/>
              </a:rPr>
              <a:t>Signal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9372058" y="7742866"/>
            <a:ext cx="1628012" cy="10166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480"/>
              </a:lnSpc>
            </a:pPr>
            <a:r>
              <a:rPr lang="en-US" sz="5300">
                <a:solidFill>
                  <a:srgbClr val="FEC801"/>
                </a:solidFill>
                <a:latin typeface="Bebas Neue"/>
                <a:ea typeface="Bebas Neue"/>
                <a:cs typeface="Bebas Neue"/>
                <a:sym typeface="Bebas Neue"/>
              </a:rPr>
              <a:t>BULLISH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12548069" y="7398848"/>
            <a:ext cx="3001960" cy="2306026"/>
            <a:chOff x="0" y="0"/>
            <a:chExt cx="790640" cy="607348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790640" cy="607348"/>
            </a:xfrm>
            <a:custGeom>
              <a:avLst/>
              <a:gdLst/>
              <a:ahLst/>
              <a:cxnLst/>
              <a:rect r="r" b="b" t="t" l="l"/>
              <a:pathLst>
                <a:path h="607348" w="790640">
                  <a:moveTo>
                    <a:pt x="131527" y="0"/>
                  </a:moveTo>
                  <a:lnTo>
                    <a:pt x="659113" y="0"/>
                  </a:lnTo>
                  <a:cubicBezTo>
                    <a:pt x="731753" y="0"/>
                    <a:pt x="790640" y="58887"/>
                    <a:pt x="790640" y="131527"/>
                  </a:cubicBezTo>
                  <a:lnTo>
                    <a:pt x="790640" y="475822"/>
                  </a:lnTo>
                  <a:cubicBezTo>
                    <a:pt x="790640" y="548462"/>
                    <a:pt x="731753" y="607348"/>
                    <a:pt x="659113" y="607348"/>
                  </a:cubicBezTo>
                  <a:lnTo>
                    <a:pt x="131527" y="607348"/>
                  </a:lnTo>
                  <a:cubicBezTo>
                    <a:pt x="58887" y="607348"/>
                    <a:pt x="0" y="548462"/>
                    <a:pt x="0" y="475822"/>
                  </a:cubicBezTo>
                  <a:lnTo>
                    <a:pt x="0" y="131527"/>
                  </a:lnTo>
                  <a:cubicBezTo>
                    <a:pt x="0" y="58887"/>
                    <a:pt x="58887" y="0"/>
                    <a:pt x="131527" y="0"/>
                  </a:cubicBezTo>
                  <a:close/>
                </a:path>
              </a:pathLst>
            </a:custGeom>
            <a:solidFill>
              <a:srgbClr val="02B676"/>
            </a:solid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66675"/>
              <a:ext cx="790640" cy="67402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21" id="21"/>
          <p:cNvSpPr txBox="true"/>
          <p:nvPr/>
        </p:nvSpPr>
        <p:spPr>
          <a:xfrm rot="0">
            <a:off x="13235043" y="8729915"/>
            <a:ext cx="1628012" cy="5251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60"/>
              </a:lnSpc>
            </a:pPr>
            <a:r>
              <a:rPr lang="en-US" sz="2600" b="true">
                <a:solidFill>
                  <a:srgbClr val="FEC801"/>
                </a:solidFill>
                <a:latin typeface="Telegraf Medium"/>
                <a:ea typeface="Telegraf Medium"/>
                <a:cs typeface="Telegraf Medium"/>
                <a:sym typeface="Telegraf Medium"/>
              </a:rPr>
              <a:t>Headlines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3235043" y="7742866"/>
            <a:ext cx="1628012" cy="10166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480"/>
              </a:lnSpc>
            </a:pPr>
            <a:r>
              <a:rPr lang="en-US" sz="5300">
                <a:solidFill>
                  <a:srgbClr val="FEC801"/>
                </a:solidFill>
                <a:latin typeface="Bebas Neue"/>
                <a:ea typeface="Bebas Neue"/>
                <a:cs typeface="Bebas Neue"/>
                <a:sym typeface="Bebas Neue"/>
              </a:rPr>
              <a:t>10</a:t>
            </a:r>
          </a:p>
        </p:txBody>
      </p:sp>
    </p:spTree>
  </p:cSld>
  <p:clrMapOvr>
    <a:masterClrMapping/>
  </p:clrMapOvr>
</p:sld>
</file>

<file path=ppt/slides/slide22.xml><?xml version="1.0" encoding="utf-8"?>
<p:sld xmlns:p="http://schemas.openxmlformats.org/presentationml/2006/main" xmlns:a="http://schemas.openxmlformats.org/drawingml/2006/main">
  <p:cSld>
    <p:bg>
      <p:bgPr>
        <a:solidFill>
          <a:srgbClr val="EEF4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962160" y="737339"/>
            <a:ext cx="10249642" cy="1073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999"/>
              </a:lnSpc>
            </a:pPr>
            <a:r>
              <a:rPr lang="en-US" sz="6999" spc="342">
                <a:solidFill>
                  <a:srgbClr val="290606"/>
                </a:solidFill>
                <a:latin typeface="Cheddar"/>
                <a:ea typeface="Cheddar"/>
                <a:cs typeface="Cheddar"/>
                <a:sym typeface="Cheddar"/>
              </a:rPr>
              <a:t>CONCLUSION &amp; FUTURE WORK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1820991" y="3597243"/>
            <a:ext cx="4561929" cy="5298426"/>
            <a:chOff x="0" y="0"/>
            <a:chExt cx="1235036" cy="1434426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235036" cy="1434426"/>
            </a:xfrm>
            <a:custGeom>
              <a:avLst/>
              <a:gdLst/>
              <a:ahLst/>
              <a:cxnLst/>
              <a:rect r="r" b="b" t="t" l="l"/>
              <a:pathLst>
                <a:path h="1434426" w="1235036">
                  <a:moveTo>
                    <a:pt x="86551" y="0"/>
                  </a:moveTo>
                  <a:lnTo>
                    <a:pt x="1148486" y="0"/>
                  </a:lnTo>
                  <a:cubicBezTo>
                    <a:pt x="1196286" y="0"/>
                    <a:pt x="1235036" y="38750"/>
                    <a:pt x="1235036" y="86551"/>
                  </a:cubicBezTo>
                  <a:lnTo>
                    <a:pt x="1235036" y="1347875"/>
                  </a:lnTo>
                  <a:cubicBezTo>
                    <a:pt x="1235036" y="1395676"/>
                    <a:pt x="1196286" y="1434426"/>
                    <a:pt x="1148486" y="1434426"/>
                  </a:cubicBezTo>
                  <a:lnTo>
                    <a:pt x="86551" y="1434426"/>
                  </a:lnTo>
                  <a:cubicBezTo>
                    <a:pt x="63596" y="1434426"/>
                    <a:pt x="41581" y="1425307"/>
                    <a:pt x="25350" y="1409076"/>
                  </a:cubicBezTo>
                  <a:cubicBezTo>
                    <a:pt x="9119" y="1392844"/>
                    <a:pt x="0" y="1370830"/>
                    <a:pt x="0" y="1347875"/>
                  </a:cubicBezTo>
                  <a:lnTo>
                    <a:pt x="0" y="86551"/>
                  </a:lnTo>
                  <a:cubicBezTo>
                    <a:pt x="0" y="63596"/>
                    <a:pt x="9119" y="41581"/>
                    <a:pt x="25350" y="25350"/>
                  </a:cubicBezTo>
                  <a:cubicBezTo>
                    <a:pt x="41581" y="9119"/>
                    <a:pt x="63596" y="0"/>
                    <a:pt x="86551" y="0"/>
                  </a:cubicBezTo>
                  <a:close/>
                </a:path>
              </a:pathLst>
            </a:custGeom>
            <a:solidFill>
              <a:srgbClr val="02B676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9525"/>
              <a:ext cx="1235036" cy="142490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00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6806017" y="3597243"/>
            <a:ext cx="4561929" cy="5298426"/>
            <a:chOff x="0" y="0"/>
            <a:chExt cx="1235036" cy="1434426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235036" cy="1434426"/>
            </a:xfrm>
            <a:custGeom>
              <a:avLst/>
              <a:gdLst/>
              <a:ahLst/>
              <a:cxnLst/>
              <a:rect r="r" b="b" t="t" l="l"/>
              <a:pathLst>
                <a:path h="1434426" w="1235036">
                  <a:moveTo>
                    <a:pt x="86551" y="0"/>
                  </a:moveTo>
                  <a:lnTo>
                    <a:pt x="1148486" y="0"/>
                  </a:lnTo>
                  <a:cubicBezTo>
                    <a:pt x="1196286" y="0"/>
                    <a:pt x="1235036" y="38750"/>
                    <a:pt x="1235036" y="86551"/>
                  </a:cubicBezTo>
                  <a:lnTo>
                    <a:pt x="1235036" y="1347875"/>
                  </a:lnTo>
                  <a:cubicBezTo>
                    <a:pt x="1235036" y="1395676"/>
                    <a:pt x="1196286" y="1434426"/>
                    <a:pt x="1148486" y="1434426"/>
                  </a:cubicBezTo>
                  <a:lnTo>
                    <a:pt x="86551" y="1434426"/>
                  </a:lnTo>
                  <a:cubicBezTo>
                    <a:pt x="63596" y="1434426"/>
                    <a:pt x="41581" y="1425307"/>
                    <a:pt x="25350" y="1409076"/>
                  </a:cubicBezTo>
                  <a:cubicBezTo>
                    <a:pt x="9119" y="1392844"/>
                    <a:pt x="0" y="1370830"/>
                    <a:pt x="0" y="1347875"/>
                  </a:cubicBezTo>
                  <a:lnTo>
                    <a:pt x="0" y="86551"/>
                  </a:lnTo>
                  <a:cubicBezTo>
                    <a:pt x="0" y="63596"/>
                    <a:pt x="9119" y="41581"/>
                    <a:pt x="25350" y="25350"/>
                  </a:cubicBezTo>
                  <a:cubicBezTo>
                    <a:pt x="41581" y="9119"/>
                    <a:pt x="63596" y="0"/>
                    <a:pt x="86551" y="0"/>
                  </a:cubicBezTo>
                  <a:close/>
                </a:path>
              </a:pathLst>
            </a:custGeom>
            <a:solidFill>
              <a:srgbClr val="F7562B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9525"/>
              <a:ext cx="1235036" cy="142490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00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1794040" y="3597243"/>
            <a:ext cx="4561929" cy="5298426"/>
            <a:chOff x="0" y="0"/>
            <a:chExt cx="1235036" cy="1434426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235036" cy="1434426"/>
            </a:xfrm>
            <a:custGeom>
              <a:avLst/>
              <a:gdLst/>
              <a:ahLst/>
              <a:cxnLst/>
              <a:rect r="r" b="b" t="t" l="l"/>
              <a:pathLst>
                <a:path h="1434426" w="1235036">
                  <a:moveTo>
                    <a:pt x="86551" y="0"/>
                  </a:moveTo>
                  <a:lnTo>
                    <a:pt x="1148486" y="0"/>
                  </a:lnTo>
                  <a:cubicBezTo>
                    <a:pt x="1196286" y="0"/>
                    <a:pt x="1235036" y="38750"/>
                    <a:pt x="1235036" y="86551"/>
                  </a:cubicBezTo>
                  <a:lnTo>
                    <a:pt x="1235036" y="1347875"/>
                  </a:lnTo>
                  <a:cubicBezTo>
                    <a:pt x="1235036" y="1395676"/>
                    <a:pt x="1196286" y="1434426"/>
                    <a:pt x="1148486" y="1434426"/>
                  </a:cubicBezTo>
                  <a:lnTo>
                    <a:pt x="86551" y="1434426"/>
                  </a:lnTo>
                  <a:cubicBezTo>
                    <a:pt x="63596" y="1434426"/>
                    <a:pt x="41581" y="1425307"/>
                    <a:pt x="25350" y="1409076"/>
                  </a:cubicBezTo>
                  <a:cubicBezTo>
                    <a:pt x="9119" y="1392844"/>
                    <a:pt x="0" y="1370830"/>
                    <a:pt x="0" y="1347875"/>
                  </a:cubicBezTo>
                  <a:lnTo>
                    <a:pt x="0" y="86551"/>
                  </a:lnTo>
                  <a:cubicBezTo>
                    <a:pt x="0" y="63596"/>
                    <a:pt x="9119" y="41581"/>
                    <a:pt x="25350" y="25350"/>
                  </a:cubicBezTo>
                  <a:cubicBezTo>
                    <a:pt x="41581" y="9119"/>
                    <a:pt x="63596" y="0"/>
                    <a:pt x="86551" y="0"/>
                  </a:cubicBezTo>
                  <a:close/>
                </a:path>
              </a:pathLst>
            </a:custGeom>
            <a:solidFill>
              <a:srgbClr val="FEC801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9525"/>
              <a:ext cx="1235036" cy="142490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00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932030" y="3701989"/>
            <a:ext cx="4561929" cy="5298426"/>
            <a:chOff x="0" y="0"/>
            <a:chExt cx="1235036" cy="1434426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235036" cy="1434426"/>
            </a:xfrm>
            <a:custGeom>
              <a:avLst/>
              <a:gdLst/>
              <a:ahLst/>
              <a:cxnLst/>
              <a:rect r="r" b="b" t="t" l="l"/>
              <a:pathLst>
                <a:path h="1434426" w="1235036">
                  <a:moveTo>
                    <a:pt x="86551" y="0"/>
                  </a:moveTo>
                  <a:lnTo>
                    <a:pt x="1148486" y="0"/>
                  </a:lnTo>
                  <a:cubicBezTo>
                    <a:pt x="1196286" y="0"/>
                    <a:pt x="1235036" y="38750"/>
                    <a:pt x="1235036" y="86551"/>
                  </a:cubicBezTo>
                  <a:lnTo>
                    <a:pt x="1235036" y="1347875"/>
                  </a:lnTo>
                  <a:cubicBezTo>
                    <a:pt x="1235036" y="1395676"/>
                    <a:pt x="1196286" y="1434426"/>
                    <a:pt x="1148486" y="1434426"/>
                  </a:cubicBezTo>
                  <a:lnTo>
                    <a:pt x="86551" y="1434426"/>
                  </a:lnTo>
                  <a:cubicBezTo>
                    <a:pt x="63596" y="1434426"/>
                    <a:pt x="41581" y="1425307"/>
                    <a:pt x="25350" y="1409076"/>
                  </a:cubicBezTo>
                  <a:cubicBezTo>
                    <a:pt x="9119" y="1392844"/>
                    <a:pt x="0" y="1370830"/>
                    <a:pt x="0" y="1347875"/>
                  </a:cubicBezTo>
                  <a:lnTo>
                    <a:pt x="0" y="86551"/>
                  </a:lnTo>
                  <a:cubicBezTo>
                    <a:pt x="0" y="63596"/>
                    <a:pt x="9119" y="41581"/>
                    <a:pt x="25350" y="25350"/>
                  </a:cubicBezTo>
                  <a:cubicBezTo>
                    <a:pt x="41581" y="9119"/>
                    <a:pt x="63596" y="0"/>
                    <a:pt x="86551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9525"/>
              <a:ext cx="1235036" cy="142490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00"/>
                </a:lnSpc>
              </a:pPr>
            </a:p>
          </p:txBody>
        </p:sp>
      </p:grpSp>
      <p:sp>
        <p:nvSpPr>
          <p:cNvPr name="TextBox 15" id="15"/>
          <p:cNvSpPr txBox="true"/>
          <p:nvPr/>
        </p:nvSpPr>
        <p:spPr>
          <a:xfrm rot="0">
            <a:off x="2111974" y="3918269"/>
            <a:ext cx="4160643" cy="6159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99"/>
              </a:lnSpc>
            </a:pPr>
            <a:r>
              <a:rPr lang="en-US" sz="3999">
                <a:solidFill>
                  <a:srgbClr val="290606"/>
                </a:solidFill>
                <a:latin typeface="Cheddar"/>
                <a:ea typeface="Cheddar"/>
                <a:cs typeface="Cheddar"/>
                <a:sym typeface="Cheddar"/>
              </a:rPr>
              <a:t>CONCLUSION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6917056" y="3701989"/>
            <a:ext cx="4561929" cy="5298426"/>
            <a:chOff x="0" y="0"/>
            <a:chExt cx="1235036" cy="1434426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235036" cy="1434426"/>
            </a:xfrm>
            <a:custGeom>
              <a:avLst/>
              <a:gdLst/>
              <a:ahLst/>
              <a:cxnLst/>
              <a:rect r="r" b="b" t="t" l="l"/>
              <a:pathLst>
                <a:path h="1434426" w="1235036">
                  <a:moveTo>
                    <a:pt x="86551" y="0"/>
                  </a:moveTo>
                  <a:lnTo>
                    <a:pt x="1148486" y="0"/>
                  </a:lnTo>
                  <a:cubicBezTo>
                    <a:pt x="1196286" y="0"/>
                    <a:pt x="1235036" y="38750"/>
                    <a:pt x="1235036" y="86551"/>
                  </a:cubicBezTo>
                  <a:lnTo>
                    <a:pt x="1235036" y="1347875"/>
                  </a:lnTo>
                  <a:cubicBezTo>
                    <a:pt x="1235036" y="1395676"/>
                    <a:pt x="1196286" y="1434426"/>
                    <a:pt x="1148486" y="1434426"/>
                  </a:cubicBezTo>
                  <a:lnTo>
                    <a:pt x="86551" y="1434426"/>
                  </a:lnTo>
                  <a:cubicBezTo>
                    <a:pt x="63596" y="1434426"/>
                    <a:pt x="41581" y="1425307"/>
                    <a:pt x="25350" y="1409076"/>
                  </a:cubicBezTo>
                  <a:cubicBezTo>
                    <a:pt x="9119" y="1392844"/>
                    <a:pt x="0" y="1370830"/>
                    <a:pt x="0" y="1347875"/>
                  </a:cubicBezTo>
                  <a:lnTo>
                    <a:pt x="0" y="86551"/>
                  </a:lnTo>
                  <a:cubicBezTo>
                    <a:pt x="0" y="63596"/>
                    <a:pt x="9119" y="41581"/>
                    <a:pt x="25350" y="25350"/>
                  </a:cubicBezTo>
                  <a:cubicBezTo>
                    <a:pt x="41581" y="9119"/>
                    <a:pt x="63596" y="0"/>
                    <a:pt x="86551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0" y="9525"/>
              <a:ext cx="1235036" cy="142490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00"/>
                </a:lnSpc>
              </a:pPr>
            </a:p>
          </p:txBody>
        </p:sp>
      </p:grpSp>
      <p:sp>
        <p:nvSpPr>
          <p:cNvPr name="TextBox 19" id="19"/>
          <p:cNvSpPr txBox="true"/>
          <p:nvPr/>
        </p:nvSpPr>
        <p:spPr>
          <a:xfrm rot="0">
            <a:off x="7117699" y="4056515"/>
            <a:ext cx="4160643" cy="6159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99"/>
              </a:lnSpc>
            </a:pPr>
            <a:r>
              <a:rPr lang="en-US" sz="3999">
                <a:solidFill>
                  <a:srgbClr val="290606"/>
                </a:solidFill>
                <a:latin typeface="Cheddar"/>
                <a:ea typeface="Cheddar"/>
                <a:cs typeface="Cheddar"/>
                <a:sym typeface="Cheddar"/>
              </a:rPr>
              <a:t>FUTURE WORK</a:t>
            </a:r>
          </a:p>
        </p:txBody>
      </p:sp>
      <p:grpSp>
        <p:nvGrpSpPr>
          <p:cNvPr name="Group 20" id="20"/>
          <p:cNvGrpSpPr/>
          <p:nvPr/>
        </p:nvGrpSpPr>
        <p:grpSpPr>
          <a:xfrm rot="0">
            <a:off x="11905080" y="3701989"/>
            <a:ext cx="4561929" cy="5298426"/>
            <a:chOff x="0" y="0"/>
            <a:chExt cx="1235036" cy="1434426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235036" cy="1434426"/>
            </a:xfrm>
            <a:custGeom>
              <a:avLst/>
              <a:gdLst/>
              <a:ahLst/>
              <a:cxnLst/>
              <a:rect r="r" b="b" t="t" l="l"/>
              <a:pathLst>
                <a:path h="1434426" w="1235036">
                  <a:moveTo>
                    <a:pt x="86551" y="0"/>
                  </a:moveTo>
                  <a:lnTo>
                    <a:pt x="1148486" y="0"/>
                  </a:lnTo>
                  <a:cubicBezTo>
                    <a:pt x="1196286" y="0"/>
                    <a:pt x="1235036" y="38750"/>
                    <a:pt x="1235036" y="86551"/>
                  </a:cubicBezTo>
                  <a:lnTo>
                    <a:pt x="1235036" y="1347875"/>
                  </a:lnTo>
                  <a:cubicBezTo>
                    <a:pt x="1235036" y="1395676"/>
                    <a:pt x="1196286" y="1434426"/>
                    <a:pt x="1148486" y="1434426"/>
                  </a:cubicBezTo>
                  <a:lnTo>
                    <a:pt x="86551" y="1434426"/>
                  </a:lnTo>
                  <a:cubicBezTo>
                    <a:pt x="63596" y="1434426"/>
                    <a:pt x="41581" y="1425307"/>
                    <a:pt x="25350" y="1409076"/>
                  </a:cubicBezTo>
                  <a:cubicBezTo>
                    <a:pt x="9119" y="1392844"/>
                    <a:pt x="0" y="1370830"/>
                    <a:pt x="0" y="1347875"/>
                  </a:cubicBezTo>
                  <a:lnTo>
                    <a:pt x="0" y="86551"/>
                  </a:lnTo>
                  <a:cubicBezTo>
                    <a:pt x="0" y="63596"/>
                    <a:pt x="9119" y="41581"/>
                    <a:pt x="25350" y="25350"/>
                  </a:cubicBezTo>
                  <a:cubicBezTo>
                    <a:pt x="41581" y="9119"/>
                    <a:pt x="63596" y="0"/>
                    <a:pt x="86551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22" id="22"/>
            <p:cNvSpPr txBox="true"/>
            <p:nvPr/>
          </p:nvSpPr>
          <p:spPr>
            <a:xfrm>
              <a:off x="0" y="9525"/>
              <a:ext cx="1235036" cy="142490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00"/>
                </a:lnSpc>
              </a:pPr>
            </a:p>
          </p:txBody>
        </p:sp>
      </p:grpSp>
      <p:sp>
        <p:nvSpPr>
          <p:cNvPr name="TextBox 23" id="23"/>
          <p:cNvSpPr txBox="true"/>
          <p:nvPr/>
        </p:nvSpPr>
        <p:spPr>
          <a:xfrm rot="0">
            <a:off x="12098110" y="4056515"/>
            <a:ext cx="4160643" cy="6159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99"/>
              </a:lnSpc>
            </a:pPr>
            <a:r>
              <a:rPr lang="en-US" sz="3999">
                <a:solidFill>
                  <a:srgbClr val="290606"/>
                </a:solidFill>
                <a:latin typeface="Cheddar"/>
                <a:ea typeface="Cheddar"/>
                <a:cs typeface="Cheddar"/>
                <a:sym typeface="Cheddar"/>
              </a:rPr>
              <a:t>OBJECTIVES ACHIEVED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2159746" y="4615314"/>
            <a:ext cx="3884418" cy="38525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67029" indent="-183514" lvl="1">
              <a:lnSpc>
                <a:spcPts val="2379"/>
              </a:lnSpc>
              <a:buFont typeface="Arial"/>
              <a:buChar char="•"/>
            </a:pPr>
            <a:r>
              <a:rPr lang="en-US" sz="1699">
                <a:solidFill>
                  <a:srgbClr val="290606"/>
                </a:solidFill>
                <a:latin typeface="Telegraf"/>
                <a:ea typeface="Telegraf"/>
                <a:cs typeface="Telegraf"/>
                <a:sym typeface="Telegraf"/>
              </a:rPr>
              <a:t>A comple</a:t>
            </a:r>
            <a:r>
              <a:rPr lang="en-US" sz="1699">
                <a:solidFill>
                  <a:srgbClr val="290606"/>
                </a:solidFill>
                <a:latin typeface="Telegraf"/>
                <a:ea typeface="Telegraf"/>
                <a:cs typeface="Telegraf"/>
                <a:sym typeface="Telegraf"/>
              </a:rPr>
              <a:t>te daily gold price forecasting system was built and evaluated</a:t>
            </a:r>
          </a:p>
          <a:p>
            <a:pPr algn="l" marL="367029" indent="-183514" lvl="1">
              <a:lnSpc>
                <a:spcPts val="2379"/>
              </a:lnSpc>
              <a:buFont typeface="Arial"/>
              <a:buChar char="•"/>
            </a:pPr>
            <a:r>
              <a:rPr lang="en-US" sz="1699">
                <a:solidFill>
                  <a:srgbClr val="290606"/>
                </a:solidFill>
                <a:latin typeface="Telegraf"/>
                <a:ea typeface="Telegraf"/>
                <a:cs typeface="Telegraf"/>
                <a:sym typeface="Telegraf"/>
              </a:rPr>
              <a:t>Multivariate LSTM achieved the best RMSE of $52.14</a:t>
            </a:r>
          </a:p>
          <a:p>
            <a:pPr algn="l" marL="367029" indent="-183514" lvl="1">
              <a:lnSpc>
                <a:spcPts val="2379"/>
              </a:lnSpc>
              <a:buFont typeface="Arial"/>
              <a:buChar char="•"/>
            </a:pPr>
            <a:r>
              <a:rPr lang="en-US" sz="1699">
                <a:solidFill>
                  <a:srgbClr val="290606"/>
                </a:solidFill>
                <a:latin typeface="Telegraf"/>
                <a:ea typeface="Telegraf"/>
                <a:cs typeface="Telegraf"/>
                <a:sym typeface="Telegraf"/>
              </a:rPr>
              <a:t>Random Forest (61.13) and MLP (61.56) are close 2nd and 3rd</a:t>
            </a:r>
          </a:p>
          <a:p>
            <a:pPr algn="l" marL="367029" indent="-183514" lvl="1">
              <a:lnSpc>
                <a:spcPts val="2379"/>
              </a:lnSpc>
              <a:buFont typeface="Arial"/>
              <a:buChar char="•"/>
            </a:pPr>
            <a:r>
              <a:rPr lang="en-US" sz="1699">
                <a:solidFill>
                  <a:srgbClr val="290606"/>
                </a:solidFill>
                <a:latin typeface="Telegraf"/>
                <a:ea typeface="Telegraf"/>
                <a:cs typeface="Telegraf"/>
                <a:sym typeface="Telegraf"/>
              </a:rPr>
              <a:t>LSTM excels when given sufficient data + multivariate features</a:t>
            </a:r>
          </a:p>
          <a:p>
            <a:pPr algn="l" marL="367029" indent="-183514" lvl="1">
              <a:lnSpc>
                <a:spcPts val="2379"/>
              </a:lnSpc>
              <a:buFont typeface="Arial"/>
              <a:buChar char="•"/>
            </a:pPr>
            <a:r>
              <a:rPr lang="en-US" sz="1699">
                <a:solidFill>
                  <a:srgbClr val="290606"/>
                </a:solidFill>
                <a:latin typeface="Telegraf"/>
                <a:ea typeface="Telegraf"/>
                <a:cs typeface="Telegraf"/>
                <a:sym typeface="Telegraf"/>
              </a:rPr>
              <a:t>Daily rolling strategy makes the system practically deployable</a:t>
            </a:r>
          </a:p>
          <a:p>
            <a:pPr algn="l" marL="367029" indent="-183514" lvl="1">
              <a:lnSpc>
                <a:spcPts val="2379"/>
              </a:lnSpc>
              <a:buFont typeface="Arial"/>
              <a:buChar char="•"/>
            </a:pPr>
            <a:r>
              <a:rPr lang="en-US" sz="1699">
                <a:solidFill>
                  <a:srgbClr val="290606"/>
                </a:solidFill>
                <a:latin typeface="Telegraf"/>
                <a:ea typeface="Telegraf"/>
                <a:cs typeface="Telegraf"/>
                <a:sym typeface="Telegraf"/>
              </a:rPr>
              <a:t>All project objectives were successfully achieved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7117699" y="4869799"/>
            <a:ext cx="4160643" cy="32619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67029" indent="-183514" lvl="1">
              <a:lnSpc>
                <a:spcPts val="2379"/>
              </a:lnSpc>
              <a:buFont typeface="Arial"/>
              <a:buChar char="•"/>
            </a:pPr>
            <a:r>
              <a:rPr lang="en-US" sz="1699">
                <a:solidFill>
                  <a:srgbClr val="290606"/>
                </a:solidFill>
                <a:latin typeface="Telegraf"/>
                <a:ea typeface="Telegraf"/>
                <a:cs typeface="Telegraf"/>
                <a:sym typeface="Telegraf"/>
              </a:rPr>
              <a:t>In</a:t>
            </a:r>
            <a:r>
              <a:rPr lang="en-US" sz="1699">
                <a:solidFill>
                  <a:srgbClr val="290606"/>
                </a:solidFill>
                <a:latin typeface="Telegraf"/>
                <a:ea typeface="Telegraf"/>
                <a:cs typeface="Telegraf"/>
                <a:sym typeface="Telegraf"/>
              </a:rPr>
              <a:t>corporate macro indicators (interest rates, CPI, USD index)</a:t>
            </a:r>
          </a:p>
          <a:p>
            <a:pPr algn="l" marL="367029" indent="-183514" lvl="1">
              <a:lnSpc>
                <a:spcPts val="2379"/>
              </a:lnSpc>
              <a:buFont typeface="Arial"/>
              <a:buChar char="•"/>
            </a:pPr>
            <a:r>
              <a:rPr lang="en-US" sz="1699">
                <a:solidFill>
                  <a:srgbClr val="290606"/>
                </a:solidFill>
                <a:latin typeface="Telegraf"/>
                <a:ea typeface="Telegraf"/>
                <a:cs typeface="Telegraf"/>
                <a:sym typeface="Telegraf"/>
              </a:rPr>
              <a:t>Add news sentiment analysis</a:t>
            </a:r>
          </a:p>
          <a:p>
            <a:pPr algn="l" marL="367029" indent="-183514" lvl="1">
              <a:lnSpc>
                <a:spcPts val="2379"/>
              </a:lnSpc>
              <a:buFont typeface="Arial"/>
              <a:buChar char="•"/>
            </a:pPr>
            <a:r>
              <a:rPr lang="en-US" sz="1699">
                <a:solidFill>
                  <a:srgbClr val="290606"/>
                </a:solidFill>
                <a:latin typeface="Telegraf"/>
                <a:ea typeface="Telegraf"/>
                <a:cs typeface="Telegraf"/>
                <a:sym typeface="Telegraf"/>
              </a:rPr>
              <a:t>Extend forecasting horizon (3-day, 7-day)</a:t>
            </a:r>
          </a:p>
          <a:p>
            <a:pPr algn="l" marL="367029" indent="-183514" lvl="1">
              <a:lnSpc>
                <a:spcPts val="2379"/>
              </a:lnSpc>
              <a:buFont typeface="Arial"/>
              <a:buChar char="•"/>
            </a:pPr>
            <a:r>
              <a:rPr lang="en-US" sz="1699">
                <a:solidFill>
                  <a:srgbClr val="290606"/>
                </a:solidFill>
                <a:latin typeface="Telegraf"/>
                <a:ea typeface="Telegraf"/>
                <a:cs typeface="Telegraf"/>
                <a:sym typeface="Telegraf"/>
              </a:rPr>
              <a:t>Explore Transformer-based architectures</a:t>
            </a:r>
          </a:p>
          <a:p>
            <a:pPr algn="l" marL="367029" indent="-183514" lvl="1">
              <a:lnSpc>
                <a:spcPts val="2379"/>
              </a:lnSpc>
              <a:buFont typeface="Arial"/>
              <a:buChar char="•"/>
            </a:pPr>
            <a:r>
              <a:rPr lang="en-US" sz="1699">
                <a:solidFill>
                  <a:srgbClr val="290606"/>
                </a:solidFill>
                <a:latin typeface="Telegraf"/>
                <a:ea typeface="Telegraf"/>
                <a:cs typeface="Telegraf"/>
                <a:sym typeface="Telegraf"/>
              </a:rPr>
              <a:t>Build an interactive dashboard for real-time prediction visualisation</a:t>
            </a:r>
          </a:p>
          <a:p>
            <a:pPr algn="l" marL="367029" indent="-183514" lvl="1">
              <a:lnSpc>
                <a:spcPts val="2379"/>
              </a:lnSpc>
              <a:buFont typeface="Arial"/>
              <a:buChar char="•"/>
            </a:pPr>
            <a:r>
              <a:rPr lang="en-US" sz="1699">
                <a:solidFill>
                  <a:srgbClr val="290606"/>
                </a:solidFill>
                <a:latin typeface="Telegraf"/>
                <a:ea typeface="Telegraf"/>
                <a:cs typeface="Telegraf"/>
                <a:sym typeface="Telegraf"/>
              </a:rPr>
              <a:t>Hybrid model: ARIMA + ML residual correction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2012385" y="4860274"/>
            <a:ext cx="4246368" cy="35255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74976" indent="-237488" lvl="1">
              <a:lnSpc>
                <a:spcPts val="3079"/>
              </a:lnSpc>
              <a:buFont typeface="Arial"/>
              <a:buChar char="•"/>
            </a:pPr>
            <a:r>
              <a:rPr lang="en-US" sz="2199">
                <a:solidFill>
                  <a:srgbClr val="290606"/>
                </a:solidFill>
                <a:latin typeface="Telegraf"/>
                <a:ea typeface="Telegraf"/>
                <a:cs typeface="Telegraf"/>
                <a:sym typeface="Telegraf"/>
              </a:rPr>
              <a:t> Next</a:t>
            </a:r>
            <a:r>
              <a:rPr lang="en-US" sz="2199">
                <a:solidFill>
                  <a:srgbClr val="290606"/>
                </a:solidFill>
                <a:latin typeface="Telegraf"/>
                <a:ea typeface="Telegraf"/>
                <a:cs typeface="Telegraf"/>
                <a:sym typeface="Telegraf"/>
              </a:rPr>
              <a:t>-day forecasting system built</a:t>
            </a:r>
          </a:p>
          <a:p>
            <a:pPr algn="l" marL="474976" indent="-237488" lvl="1">
              <a:lnSpc>
                <a:spcPts val="3079"/>
              </a:lnSpc>
              <a:buFont typeface="Arial"/>
              <a:buChar char="•"/>
            </a:pPr>
            <a:r>
              <a:rPr lang="en-US" sz="2199">
                <a:solidFill>
                  <a:srgbClr val="290606"/>
                </a:solidFill>
                <a:latin typeface="Telegraf"/>
                <a:ea typeface="Telegraf"/>
                <a:cs typeface="Telegraf"/>
                <a:sym typeface="Telegraf"/>
              </a:rPr>
              <a:t>skforecast implemented</a:t>
            </a:r>
          </a:p>
          <a:p>
            <a:pPr algn="l" marL="474976" indent="-237488" lvl="1">
              <a:lnSpc>
                <a:spcPts val="3079"/>
              </a:lnSpc>
              <a:buFont typeface="Arial"/>
              <a:buChar char="•"/>
            </a:pPr>
            <a:r>
              <a:rPr lang="en-US" sz="2199">
                <a:solidFill>
                  <a:srgbClr val="290606"/>
                </a:solidFill>
                <a:latin typeface="Telegraf"/>
                <a:ea typeface="Telegraf"/>
                <a:cs typeface="Telegraf"/>
                <a:sym typeface="Telegraf"/>
              </a:rPr>
              <a:t>RF, MLP, Keras, LSTM compared</a:t>
            </a:r>
          </a:p>
          <a:p>
            <a:pPr algn="l" marL="474976" indent="-237488" lvl="1">
              <a:lnSpc>
                <a:spcPts val="3079"/>
              </a:lnSpc>
              <a:buFont typeface="Arial"/>
              <a:buChar char="•"/>
            </a:pPr>
            <a:r>
              <a:rPr lang="en-US" sz="2199">
                <a:solidFill>
                  <a:srgbClr val="290606"/>
                </a:solidFill>
                <a:latin typeface="Telegraf"/>
                <a:ea typeface="Telegraf"/>
                <a:cs typeface="Telegraf"/>
                <a:sym typeface="Telegraf"/>
              </a:rPr>
              <a:t>MAE &amp; RMSE evaluation completed</a:t>
            </a:r>
          </a:p>
          <a:p>
            <a:pPr algn="l" marL="474976" indent="-237488" lvl="1">
              <a:lnSpc>
                <a:spcPts val="3079"/>
              </a:lnSpc>
              <a:buFont typeface="Arial"/>
              <a:buChar char="•"/>
            </a:pPr>
            <a:r>
              <a:rPr lang="en-US" sz="2199">
                <a:solidFill>
                  <a:srgbClr val="290606"/>
                </a:solidFill>
                <a:latin typeface="Telegraf"/>
                <a:ea typeface="Telegraf"/>
                <a:cs typeface="Telegraf"/>
                <a:sym typeface="Telegraf"/>
              </a:rPr>
              <a:t> Daily rolling prediction implemented</a:t>
            </a:r>
          </a:p>
        </p:txBody>
      </p:sp>
    </p:spTree>
  </p:cSld>
  <p:clrMapOvr>
    <a:masterClrMapping/>
  </p:clrMapOvr>
</p:sld>
</file>

<file path=ppt/slides/slide23.xml><?xml version="1.0" encoding="utf-8"?>
<p:sld xmlns:p="http://schemas.openxmlformats.org/presentationml/2006/main" xmlns:a="http://schemas.openxmlformats.org/drawingml/2006/main">
  <p:cSld>
    <p:bg>
      <p:bgPr>
        <a:solidFill>
          <a:srgbClr val="EEF4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1019175"/>
            <a:ext cx="8115300" cy="1073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99"/>
              </a:lnSpc>
            </a:pPr>
            <a:r>
              <a:rPr lang="en-US" sz="6999" spc="342">
                <a:solidFill>
                  <a:srgbClr val="290606"/>
                </a:solidFill>
                <a:latin typeface="Cheddar"/>
                <a:ea typeface="Cheddar"/>
                <a:cs typeface="Cheddar"/>
                <a:sym typeface="Cheddar"/>
              </a:rPr>
              <a:t>REFERENCES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6678965" y="1531937"/>
            <a:ext cx="9899469" cy="8353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18160" indent="-259080" lvl="1">
              <a:lnSpc>
                <a:spcPts val="2879"/>
              </a:lnSpc>
              <a:buFont typeface="Arial"/>
              <a:buChar char="•"/>
            </a:pPr>
            <a:r>
              <a:rPr lang="en-US" sz="2400" spc="117">
                <a:solidFill>
                  <a:srgbClr val="290606"/>
                </a:solidFill>
                <a:latin typeface="Telegraf"/>
                <a:ea typeface="Telegraf"/>
                <a:cs typeface="Telegraf"/>
                <a:sym typeface="Telegraf"/>
              </a:rPr>
              <a:t>Atsalakis, G.S. &amp; Valavanis, K.P. (2009). Forecasting stock market short-term trends using a neuro-fuzzy methodology. Expert Systems with Applications, 36(7), 10696–10707.</a:t>
            </a:r>
          </a:p>
          <a:p>
            <a:pPr algn="l" marL="518160" indent="-259080" lvl="1">
              <a:lnSpc>
                <a:spcPts val="2879"/>
              </a:lnSpc>
              <a:buFont typeface="Arial"/>
              <a:buChar char="•"/>
            </a:pPr>
            <a:r>
              <a:rPr lang="en-US" sz="2400" spc="117">
                <a:solidFill>
                  <a:srgbClr val="290606"/>
                </a:solidFill>
                <a:latin typeface="Telegraf"/>
                <a:ea typeface="Telegraf"/>
                <a:cs typeface="Telegraf"/>
                <a:sym typeface="Telegraf"/>
              </a:rPr>
              <a:t>Box, G.E.P. et al. (2015). Time Series Analysis: Forecasting and Control. 5th edn. Wiley.</a:t>
            </a:r>
          </a:p>
          <a:p>
            <a:pPr algn="l" marL="518160" indent="-259080" lvl="1">
              <a:lnSpc>
                <a:spcPts val="2879"/>
              </a:lnSpc>
              <a:buFont typeface="Arial"/>
              <a:buChar char="•"/>
            </a:pPr>
            <a:r>
              <a:rPr lang="en-US" sz="2400" spc="117">
                <a:solidFill>
                  <a:srgbClr val="290606"/>
                </a:solidFill>
                <a:latin typeface="Telegraf"/>
                <a:ea typeface="Telegraf"/>
                <a:cs typeface="Telegraf"/>
                <a:sym typeface="Telegraf"/>
              </a:rPr>
              <a:t>Breiman, L. (2001). Random forests. Machine Learning, 45(1), 5–32.</a:t>
            </a:r>
          </a:p>
          <a:p>
            <a:pPr algn="l" marL="518160" indent="-259080" lvl="1">
              <a:lnSpc>
                <a:spcPts val="2879"/>
              </a:lnSpc>
              <a:buFont typeface="Arial"/>
              <a:buChar char="•"/>
            </a:pPr>
            <a:r>
              <a:rPr lang="en-US" sz="2400" spc="117">
                <a:solidFill>
                  <a:srgbClr val="290606"/>
                </a:solidFill>
                <a:latin typeface="Telegraf"/>
                <a:ea typeface="Telegraf"/>
                <a:cs typeface="Telegraf"/>
                <a:sym typeface="Telegraf"/>
              </a:rPr>
              <a:t>Hochreiter, S. &amp; Schmidhuber, J. (1997). Long short-term memory. Neural Computation, 9(8), 1735–1780.</a:t>
            </a:r>
          </a:p>
          <a:p>
            <a:pPr algn="l" marL="518160" indent="-259080" lvl="1">
              <a:lnSpc>
                <a:spcPts val="2879"/>
              </a:lnSpc>
              <a:buFont typeface="Arial"/>
              <a:buChar char="•"/>
            </a:pPr>
            <a:r>
              <a:rPr lang="en-US" sz="2400" spc="117">
                <a:solidFill>
                  <a:srgbClr val="290606"/>
                </a:solidFill>
                <a:latin typeface="Telegraf"/>
                <a:ea typeface="Telegraf"/>
                <a:cs typeface="Telegraf"/>
                <a:sym typeface="Telegraf"/>
              </a:rPr>
              <a:t>Khashei, M. &amp; Bijari, M. (2011). A novel hybridization of ANNs and ARIMA. Applied Soft Computing, 11(2), 2664–2675.</a:t>
            </a:r>
          </a:p>
          <a:p>
            <a:pPr algn="l" marL="518160" indent="-259080" lvl="1">
              <a:lnSpc>
                <a:spcPts val="2879"/>
              </a:lnSpc>
              <a:buFont typeface="Arial"/>
              <a:buChar char="•"/>
            </a:pPr>
            <a:r>
              <a:rPr lang="en-US" sz="2400" spc="117">
                <a:solidFill>
                  <a:srgbClr val="290606"/>
                </a:solidFill>
                <a:latin typeface="Telegraf"/>
                <a:ea typeface="Telegraf"/>
                <a:cs typeface="Telegraf"/>
                <a:sym typeface="Telegraf"/>
              </a:rPr>
              <a:t>Kumar, D. &amp; Thenmozhi, M. (2014). Forecasting stock index movement. Journal of Forecasting, 33(6), 466–480.</a:t>
            </a:r>
          </a:p>
          <a:p>
            <a:pPr algn="l" marL="518160" indent="-259080" lvl="1">
              <a:lnSpc>
                <a:spcPts val="2879"/>
              </a:lnSpc>
              <a:buFont typeface="Arial"/>
              <a:buChar char="•"/>
            </a:pPr>
            <a:r>
              <a:rPr lang="en-US" sz="2400" spc="117">
                <a:solidFill>
                  <a:srgbClr val="290606"/>
                </a:solidFill>
                <a:latin typeface="Telegraf"/>
                <a:ea typeface="Telegraf"/>
                <a:cs typeface="Telegraf"/>
                <a:sym typeface="Telegraf"/>
              </a:rPr>
              <a:t>Nelson, D.M.Q. et al. (2017). Stock market's price movement prediction with LSTM. IJCNN, 1419–1426.</a:t>
            </a:r>
          </a:p>
          <a:p>
            <a:pPr algn="l" marL="518160" indent="-259080" lvl="1">
              <a:lnSpc>
                <a:spcPts val="2879"/>
              </a:lnSpc>
              <a:buFont typeface="Arial"/>
              <a:buChar char="•"/>
            </a:pPr>
            <a:r>
              <a:rPr lang="en-US" sz="2400" spc="117">
                <a:solidFill>
                  <a:srgbClr val="290606"/>
                </a:solidFill>
                <a:latin typeface="Telegraf"/>
                <a:ea typeface="Telegraf"/>
                <a:cs typeface="Telegraf"/>
                <a:sym typeface="Telegraf"/>
              </a:rPr>
              <a:t>Patel, J. et al. (2015). Predicting stock price index movement. Expert Systems with Applications, 42(1), 259–268.</a:t>
            </a:r>
          </a:p>
          <a:p>
            <a:pPr algn="l" marL="518160" indent="-259080" lvl="1">
              <a:lnSpc>
                <a:spcPts val="2879"/>
              </a:lnSpc>
              <a:buFont typeface="Arial"/>
              <a:buChar char="•"/>
            </a:pPr>
            <a:r>
              <a:rPr lang="en-US" sz="2400" spc="117">
                <a:solidFill>
                  <a:srgbClr val="290606"/>
                </a:solidFill>
                <a:latin typeface="Telegraf"/>
                <a:ea typeface="Telegraf"/>
                <a:cs typeface="Telegraf"/>
                <a:sym typeface="Telegraf"/>
              </a:rPr>
              <a:t>Tsai, C.-F. &amp; Wang, S.-P. (2009). Stock price forecasting by hybrid ML. IMECS Proceedings, 755–760.</a:t>
            </a:r>
          </a:p>
          <a:p>
            <a:pPr algn="l" marL="518160" indent="-259080" lvl="1">
              <a:lnSpc>
                <a:spcPts val="2879"/>
              </a:lnSpc>
              <a:buFont typeface="Arial"/>
              <a:buChar char="•"/>
            </a:pPr>
            <a:r>
              <a:rPr lang="en-US" sz="2400" spc="117">
                <a:solidFill>
                  <a:srgbClr val="290606"/>
                </a:solidFill>
                <a:latin typeface="Telegraf"/>
                <a:ea typeface="Telegraf"/>
                <a:cs typeface="Telegraf"/>
                <a:sym typeface="Telegraf"/>
              </a:rPr>
              <a:t>Yahoo Finance (2026). Gold Futures GC=F. Available at: https://finance.yahoo.com/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DAHFBsleOVg</dc:identifier>
  <dcterms:modified xsi:type="dcterms:W3CDTF">2011-08-01T06:04:30Z</dcterms:modified>
  <cp:revision>1</cp:revision>
  <dc:title>Gold Price Prediction</dc:title>
</cp:coreProperties>
</file>